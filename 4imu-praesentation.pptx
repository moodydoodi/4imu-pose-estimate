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F1E38"/>
                </a:solidFill>
                <a:latin typeface="Calibri"/>
              </a:defRPr>
            </a:pPr>
            <a:r>
              <a:rPr lang="en-GB" sz="1300" b="0" i="0" u="none" strike="noStrike">
                <a:solidFill>
                  <a:srgbClr val="0F1E38"/>
                </a:solidFill>
                <a:latin typeface="Calibri"/>
              </a:rPr>
              <a:t>MPJPE je Testaufnahme (mm)</a:t>
            </a:r>
          </a:p>
        </c:rich>
      </c:tx>
      <c:overlay val="0"/>
    </c:title>
    <c:autoTitleDeleted val="0"/>
    <c:plotArea>
      <c:layout/>
      <c:barChart>
        <c:barDir val="col"/>
        <c:grouping val="clustered"/>
        <c:varyColors val="0"/>
        <c:ser>
          <c:idx val="0"/>
          <c:order val="0"/>
          <c:tx>
            <c:strRef>
              <c:f>Sheet1!$B$1</c:f>
              <c:strCache>
                <c:ptCount val="1"/>
                <c:pt idx="0">
                  <c:v>Weltsystem</c:v>
                </c:pt>
              </c:strCache>
            </c:strRef>
          </c:tx>
          <c:spPr>
            <a:solidFill>
              <a:srgbClr val="7D8AA2"/>
            </a:solidFill>
            <a:effectLst/>
          </c:spPr>
          <c:invertIfNegative val="0"/>
          <c:dLbls>
            <c:numFmt formatCode="0" sourceLinked="0"/>
            <c:spPr>
              <a:noFill/>
              <a:ln>
                <a:noFill/>
              </a:ln>
              <a:effectLst/>
            </c:spPr>
            <c:txPr>
              <a:bodyPr/>
              <a:lstStyle/>
              <a:p>
                <a:pPr>
                  <a:defRPr sz="900" b="0" i="0" u="none" strike="noStrike">
                    <a:solidFill>
                      <a:srgbClr val="44577A"/>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video1</c:v>
                </c:pt>
                <c:pt idx="1">
                  <c:v>video2</c:v>
                </c:pt>
                <c:pt idx="2">
                  <c:v>video3</c:v>
                </c:pt>
                <c:pt idx="3">
                  <c:v>video4</c:v>
                </c:pt>
                <c:pt idx="4">
                  <c:v>video5</c:v>
                </c:pt>
                <c:pt idx="5">
                  <c:v>video6</c:v>
                </c:pt>
              </c:strCache>
            </c:strRef>
          </c:cat>
          <c:val>
            <c:numRef>
              <c:f>Sheet1!$B$2:$B$7</c:f>
              <c:numCache>
                <c:formatCode>General</c:formatCode>
                <c:ptCount val="6"/>
                <c:pt idx="0">
                  <c:v>128.4</c:v>
                </c:pt>
                <c:pt idx="1">
                  <c:v>134.6</c:v>
                </c:pt>
                <c:pt idx="2">
                  <c:v>128.30000000000001</c:v>
                </c:pt>
                <c:pt idx="3">
                  <c:v>132.9</c:v>
                </c:pt>
                <c:pt idx="4">
                  <c:v>145.9</c:v>
                </c:pt>
                <c:pt idx="5">
                  <c:v>117.9</c:v>
                </c:pt>
              </c:numCache>
            </c:numRef>
          </c:val>
          <c:extLst>
            <c:ext xmlns:c16="http://schemas.microsoft.com/office/drawing/2014/chart" uri="{C3380CC4-5D6E-409C-BE32-E72D297353CC}">
              <c16:uniqueId val="{00000000-5515-49DC-AE65-DA1087D27655}"/>
            </c:ext>
          </c:extLst>
        </c:ser>
        <c:ser>
          <c:idx val="1"/>
          <c:order val="1"/>
          <c:tx>
            <c:strRef>
              <c:f>Sheet1!$C$1</c:f>
              <c:strCache>
                <c:ptCount val="1"/>
                <c:pt idx="0">
                  <c:v>körperfest</c:v>
                </c:pt>
              </c:strCache>
            </c:strRef>
          </c:tx>
          <c:spPr>
            <a:solidFill>
              <a:srgbClr val="2F6FE0"/>
            </a:solidFill>
            <a:effectLst/>
          </c:spPr>
          <c:invertIfNegative val="0"/>
          <c:dLbls>
            <c:numFmt formatCode="0" sourceLinked="0"/>
            <c:spPr>
              <a:noFill/>
              <a:ln>
                <a:noFill/>
              </a:ln>
              <a:effectLst/>
            </c:spPr>
            <c:txPr>
              <a:bodyPr/>
              <a:lstStyle/>
              <a:p>
                <a:pPr>
                  <a:defRPr sz="900" b="0" i="0" u="none" strike="noStrike">
                    <a:solidFill>
                      <a:srgbClr val="44577A"/>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video1</c:v>
                </c:pt>
                <c:pt idx="1">
                  <c:v>video2</c:v>
                </c:pt>
                <c:pt idx="2">
                  <c:v>video3</c:v>
                </c:pt>
                <c:pt idx="3">
                  <c:v>video4</c:v>
                </c:pt>
                <c:pt idx="4">
                  <c:v>video5</c:v>
                </c:pt>
                <c:pt idx="5">
                  <c:v>video6</c:v>
                </c:pt>
              </c:strCache>
            </c:strRef>
          </c:cat>
          <c:val>
            <c:numRef>
              <c:f>Sheet1!$C$2:$C$7</c:f>
              <c:numCache>
                <c:formatCode>General</c:formatCode>
                <c:ptCount val="6"/>
                <c:pt idx="0">
                  <c:v>88.9</c:v>
                </c:pt>
                <c:pt idx="1">
                  <c:v>101.6</c:v>
                </c:pt>
                <c:pt idx="2">
                  <c:v>84.3</c:v>
                </c:pt>
                <c:pt idx="3">
                  <c:v>91.7</c:v>
                </c:pt>
                <c:pt idx="4">
                  <c:v>93.5</c:v>
                </c:pt>
                <c:pt idx="5">
                  <c:v>87.4</c:v>
                </c:pt>
              </c:numCache>
            </c:numRef>
          </c:val>
          <c:extLst>
            <c:ext xmlns:c16="http://schemas.microsoft.com/office/drawing/2014/chart" uri="{C3380CC4-5D6E-409C-BE32-E72D297353CC}">
              <c16:uniqueId val="{00000001-5515-49DC-AE65-DA1087D2765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77A"/>
                </a:solidFill>
                <a:latin typeface="Calibri"/>
              </a:defRPr>
            </a:pPr>
            <a:endParaRPr lang="en-US"/>
          </a:p>
        </c:txPr>
        <c:crossAx val="2094734552"/>
        <c:crosses val="autoZero"/>
        <c:auto val="1"/>
        <c:lblAlgn val="ctr"/>
        <c:lblOffset val="100"/>
        <c:noMultiLvlLbl val="1"/>
      </c:catAx>
      <c:valAx>
        <c:axId val="2094734552"/>
        <c:scaling>
          <c:orientation val="minMax"/>
          <c:max val="165"/>
          <c:min val="0"/>
        </c:scaling>
        <c:delete val="0"/>
        <c:axPos val="l"/>
        <c:majorGridlines>
          <c:spPr>
            <a:ln w="12700" cap="flat">
              <a:solidFill>
                <a:srgbClr val="E3EA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D8AA2"/>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4577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0F1E38"/>
                </a:solidFill>
                <a:latin typeface="Calibri"/>
              </a:defRPr>
            </a:pPr>
            <a:r>
              <a:rPr lang="de-DE" sz="1300" b="0" i="0" u="none" strike="noStrike">
                <a:solidFill>
                  <a:srgbClr val="0F1E38"/>
                </a:solidFill>
                <a:latin typeface="Calibri"/>
              </a:rPr>
              <a:t>MPJPE über 18 Paare (mm, kleiner ist besser)</a:t>
            </a:r>
          </a:p>
        </c:rich>
      </c:tx>
      <c:overlay val="0"/>
    </c:title>
    <c:autoTitleDeleted val="0"/>
    <c:plotArea>
      <c:layout/>
      <c:barChart>
        <c:barDir val="col"/>
        <c:grouping val="clustered"/>
        <c:varyColors val="0"/>
        <c:ser>
          <c:idx val="0"/>
          <c:order val="0"/>
          <c:tx>
            <c:strRef>
              <c:f>Sheet1!$B$1</c:f>
              <c:strCache>
                <c:ptCount val="1"/>
                <c:pt idx="0">
                  <c:v>Δ MPJPE (mm)</c:v>
                </c:pt>
              </c:strCache>
            </c:strRef>
          </c:tx>
          <c:spPr>
            <a:solidFill>
              <a:srgbClr val="7D8AA2"/>
            </a:solidFill>
            <a:effectLst/>
          </c:spPr>
          <c:invertIfNegative val="0"/>
          <c:dPt>
            <c:idx val="0"/>
            <c:invertIfNegative val="0"/>
            <c:bubble3D val="0"/>
            <c:extLst>
              <c:ext xmlns:c16="http://schemas.microsoft.com/office/drawing/2014/chart" uri="{C3380CC4-5D6E-409C-BE32-E72D297353CC}">
                <c16:uniqueId val="{00000001-621A-4C4F-8F20-8B14C76760C4}"/>
              </c:ext>
            </c:extLst>
          </c:dPt>
          <c:dPt>
            <c:idx val="1"/>
            <c:invertIfNegative val="0"/>
            <c:bubble3D val="0"/>
            <c:spPr>
              <a:solidFill>
                <a:srgbClr val="0F9E76"/>
              </a:solidFill>
              <a:effectLst/>
            </c:spPr>
            <c:extLst>
              <c:ext xmlns:c16="http://schemas.microsoft.com/office/drawing/2014/chart" uri="{C3380CC4-5D6E-409C-BE32-E72D297353CC}">
                <c16:uniqueId val="{00000003-621A-4C4F-8F20-8B14C76760C4}"/>
              </c:ext>
            </c:extLst>
          </c:dPt>
          <c:dLbls>
            <c:numFmt formatCode="0.0" sourceLinked="0"/>
            <c:spPr>
              <a:noFill/>
              <a:ln>
                <a:noFill/>
              </a:ln>
              <a:effectLst/>
            </c:spPr>
            <c:txPr>
              <a:bodyPr/>
              <a:lstStyle/>
              <a:p>
                <a:pPr>
                  <a:defRPr sz="1400" b="0" i="0" u="none" strike="noStrike">
                    <a:solidFill>
                      <a:srgbClr val="0F1E38"/>
                    </a:solidFill>
                    <a:latin typeface="Calibri"/>
                  </a:defRPr>
                </a:pPr>
                <a:endParaRPr lang="en-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nur echt</c:v>
                </c:pt>
                <c:pt idx="1">
                  <c:v>+ Vortraining</c:v>
                </c:pt>
              </c:strCache>
            </c:strRef>
          </c:cat>
          <c:val>
            <c:numRef>
              <c:f>Sheet1!$B$2:$B$3</c:f>
              <c:numCache>
                <c:formatCode>General</c:formatCode>
                <c:ptCount val="2"/>
                <c:pt idx="0">
                  <c:v>92.33</c:v>
                </c:pt>
                <c:pt idx="1">
                  <c:v>89.47</c:v>
                </c:pt>
              </c:numCache>
            </c:numRef>
          </c:val>
          <c:extLst>
            <c:ext xmlns:c16="http://schemas.microsoft.com/office/drawing/2014/chart" uri="{C3380CC4-5D6E-409C-BE32-E72D297353CC}">
              <c16:uniqueId val="{00000004-621A-4C4F-8F20-8B14C76760C4}"/>
            </c:ext>
          </c:extLst>
        </c:ser>
        <c:dLbls>
          <c:showLegendKey val="0"/>
          <c:showVal val="1"/>
          <c:showCatName val="0"/>
          <c:showSerName val="0"/>
          <c:showPercent val="0"/>
          <c:showBubbleSize val="0"/>
        </c:dLbls>
        <c:gapWidth val="1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F1E38"/>
                </a:solidFill>
                <a:latin typeface="Calibri"/>
              </a:defRPr>
            </a:pPr>
            <a:endParaRPr lang="en-US"/>
          </a:p>
        </c:txPr>
        <c:crossAx val="2094734552"/>
        <c:crosses val="autoZero"/>
        <c:auto val="1"/>
        <c:lblAlgn val="ctr"/>
        <c:lblOffset val="100"/>
        <c:noMultiLvlLbl val="1"/>
      </c:catAx>
      <c:valAx>
        <c:axId val="2094734552"/>
        <c:scaling>
          <c:orientation val="minMax"/>
          <c:max val="100"/>
          <c:min val="80"/>
        </c:scaling>
        <c:delete val="0"/>
        <c:axPos val="l"/>
        <c:majorGridlines>
          <c:spPr>
            <a:ln w="12700" cap="flat">
              <a:solidFill>
                <a:srgbClr val="E3EA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D8AA2"/>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4309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worum es geht. Vier Sensoren an Hand- und Fußgelenken, daraus die ganze Körperhaltung. Der Aufbau ist bewusst minimal — und genau das macht ihn schwer.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AX6 an Handgelenken und Knöcheln, 200 Hz, Beschleunigung und Drehrate. Ground Truth kommt aus MediaPipe auf dem Video. Sechs brauchbare Aufnahmen, rund eine Stunde. Neue Aufnahmen sind nicht möglich.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beiden Punkte erklären fast jede Entwurfsentscheidung, die danach kommt. Ohne Magnetometer fehlt uns die Größe, auf der die ganze Literatur aufbaut. Und sechs Aufnahmen sind schlicht zu wenig für ein Netz dieser Größe.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durch die Kette gehen. Die drei Schritte, auf die es ankommt, sind Segmentsystem, Merkmale und Ausgabeform — die kommen auf den nächsten Folien einzeln.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Entscheidung, die am meisten Ärger erspart hat. Feste Knochenlängen, zwölf Richtungen, Positionen durch Aufsummieren. Die Kontrolle mit echten Richtungen und echten Längen kommt auf 0,00 mm — die Parametrisierung verliert nichts.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Statt eine Orientierung zu schätzen, die wegdriftet, geben wir dem Netz nur was wirklich messbar ist. Der vierte Block ist wichtig: die Pose hat 50 fps, also rechnen wir auf 50 Hz herunter — und die Landung steckt bei 20 bis 90 Hz, die wäre sonst weg.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der Punkt, an dem echte und synthetische Daten überhaupt erst vergleichbar werden. Die Zahlen rechts sind der Beweis: wenn man nur die Bandlage ändert, ändert sich das Signal im Gerätesystem um 128, im Segmentsystem um 0,34.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die Zielpose so gedreht, dass die Hüftachse immer nach vorn zeigt — damit ist die Blickrichtung aus den Zielwerten raus. Der Einwand wäre, dass wir uns eine leichtere Aufgabe gestellt haben. Dagegen steht PA-MPJPE: das rechnet die Drehung ohnehin heraus und verbessert sich trotzdem von 77,7 auf 70,6.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erklären, wie synthetisiert wird — und vor allem, woran wir das gemessen haben. Der springende Punkt ist der Maßstab: die synthetischen Daten sind im Merkmalsraum genauso weit von einer echten Aufnahme entfernt wie zwei echte Aufnahmen voneinander.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Wichtig ist der Aufbau, nicht nur die Zahl. Das Mittel über sechs Faltungen ist zwischen den Seeds auf 0,3 mm stabil, einzelne Faltungen schwanken aber um 9 mm. An einer einzelnen Zahl wäre der Effekt nicht nachweisbar gewesen — erst der gepaarte Versuch macht ihn sichtbar.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Folie bewusst drin lassen. Sie zeigt, dass sauber gemessen wurde — und die offene Frage beim Vortraining ist ehrlich benannt statt versteckt. Die beiden Kontrollversuche dafür sind im Repo schon vorbereitet.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Ehrliche Einordnung. Der Gewinn gegenüber der trivialen Mittelpose ist da und reproduzierbar, aber wir sind noch weit von einem Marker-System entfernt — und ein Teil des Abstands liegt in den Zielwerten selbst.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Übergang zum Dashboard. Erst Signals, dann Prediction &amp; Video mit dem Skelett neben dem Film, zum Schluss Evaluation mit dem Modellvergleich. Nicht vergessen: die Blickrichtung im Bild kommt aus der Ground Truth, nicht vom Modell.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9"/>
        </a:solidFill>
        <a:effectLst/>
      </p:bgPr>
    </p:bg>
    <p:spTree>
      <p:nvGrpSpPr>
        <p:cNvPr id="1" name=""/>
        <p:cNvGrpSpPr/>
        <p:nvPr/>
      </p:nvGrpSpPr>
      <p:grpSpPr>
        <a:xfrm>
          <a:off x="0" y="0"/>
          <a:ext cx="0" cy="0"/>
          <a:chOff x="0" y="0"/>
          <a:chExt cx="0" cy="0"/>
        </a:xfrm>
      </p:grpSpPr>
      <p:sp>
        <p:nvSpPr>
          <p:cNvPr id="2" name="Shape 0"/>
          <p:cNvSpPr/>
          <p:nvPr/>
        </p:nvSpPr>
        <p:spPr>
          <a:xfrm>
            <a:off x="9235440" y="-1371600"/>
            <a:ext cx="4754880" cy="4754880"/>
          </a:xfrm>
          <a:prstGeom prst="ellipse">
            <a:avLst/>
          </a:prstGeom>
          <a:solidFill>
            <a:srgbClr val="153055"/>
          </a:solidFill>
          <a:ln/>
        </p:spPr>
        <p:txBody>
          <a:bodyPr/>
          <a:lstStyle/>
          <a:p>
            <a:endParaRPr lang="en-DE"/>
          </a:p>
        </p:txBody>
      </p:sp>
      <p:sp>
        <p:nvSpPr>
          <p:cNvPr id="3" name="Shape 1"/>
          <p:cNvSpPr/>
          <p:nvPr/>
        </p:nvSpPr>
        <p:spPr>
          <a:xfrm>
            <a:off x="10424160" y="4206240"/>
            <a:ext cx="3108960" cy="3108960"/>
          </a:xfrm>
          <a:prstGeom prst="ellipse">
            <a:avLst/>
          </a:prstGeom>
          <a:solidFill>
            <a:srgbClr val="12283F"/>
          </a:solidFill>
          <a:ln/>
        </p:spPr>
        <p:txBody>
          <a:bodyPr/>
          <a:lstStyle/>
          <a:p>
            <a:endParaRPr lang="en-DE"/>
          </a:p>
        </p:txBody>
      </p:sp>
      <p:sp>
        <p:nvSpPr>
          <p:cNvPr id="4" name="Text 2"/>
          <p:cNvSpPr/>
          <p:nvPr/>
        </p:nvSpPr>
        <p:spPr>
          <a:xfrm>
            <a:off x="822960" y="1417320"/>
            <a:ext cx="8229600" cy="274320"/>
          </a:xfrm>
          <a:prstGeom prst="rect">
            <a:avLst/>
          </a:prstGeom>
          <a:noFill/>
          <a:ln/>
        </p:spPr>
        <p:txBody>
          <a:bodyPr wrap="square" lIns="0" tIns="0" rIns="0" bIns="0" rtlCol="0" anchor="ctr"/>
          <a:lstStyle/>
          <a:p>
            <a:pPr marL="0" indent="0">
              <a:buNone/>
            </a:pPr>
            <a:r>
              <a:rPr lang="en-US" sz="1200" b="1" kern="0" spc="220" dirty="0">
                <a:solidFill>
                  <a:srgbClr val="67C7E8"/>
                </a:solidFill>
                <a:latin typeface="Calibri" pitchFamily="34" charset="0"/>
                <a:ea typeface="Calibri" pitchFamily="34" charset="-122"/>
                <a:cs typeface="Calibri" pitchFamily="34" charset="-120"/>
              </a:rPr>
              <a:t>TECHNICAL PROJECT  ·  HOCHSCHULE DÜSSELDORF</a:t>
            </a:r>
            <a:endParaRPr lang="en-US" sz="1200" dirty="0"/>
          </a:p>
        </p:txBody>
      </p:sp>
      <p:sp>
        <p:nvSpPr>
          <p:cNvPr id="5" name="Text 3"/>
          <p:cNvSpPr/>
          <p:nvPr/>
        </p:nvSpPr>
        <p:spPr>
          <a:xfrm>
            <a:off x="822960" y="1874520"/>
            <a:ext cx="8778240" cy="1737360"/>
          </a:xfrm>
          <a:prstGeom prst="rect">
            <a:avLst/>
          </a:prstGeom>
          <a:noFill/>
          <a:ln/>
        </p:spPr>
        <p:txBody>
          <a:bodyPr wrap="square" lIns="0" tIns="0" rIns="0" bIns="0" rtlCol="0" anchor="ctr"/>
          <a:lstStyle/>
          <a:p>
            <a:pPr marL="0" indent="0">
              <a:lnSpc>
                <a:spcPts val="4600"/>
              </a:lnSpc>
              <a:buNone/>
            </a:pPr>
            <a:r>
              <a:rPr lang="en-US" sz="4200" b="1" dirty="0">
                <a:solidFill>
                  <a:srgbClr val="EEF3FB"/>
                </a:solidFill>
                <a:latin typeface="Calibri" pitchFamily="34" charset="0"/>
                <a:ea typeface="Calibri" pitchFamily="34" charset="-122"/>
                <a:cs typeface="Calibri" pitchFamily="34" charset="-120"/>
              </a:rPr>
              <a:t>3D-Pose aus vier</a:t>
            </a:r>
            <a:endParaRPr lang="en-US" sz="4200" dirty="0"/>
          </a:p>
          <a:p>
            <a:pPr marL="0" indent="0">
              <a:lnSpc>
                <a:spcPts val="4600"/>
              </a:lnSpc>
              <a:buNone/>
            </a:pPr>
            <a:r>
              <a:rPr lang="en-US" sz="4200" b="1" dirty="0">
                <a:solidFill>
                  <a:srgbClr val="EEF3FB"/>
                </a:solidFill>
                <a:latin typeface="Calibri" pitchFamily="34" charset="0"/>
                <a:ea typeface="Calibri" pitchFamily="34" charset="-122"/>
                <a:cs typeface="Calibri" pitchFamily="34" charset="-120"/>
              </a:rPr>
              <a:t>am Körper getragenen IMUs</a:t>
            </a:r>
            <a:endParaRPr lang="en-US" sz="4200" dirty="0"/>
          </a:p>
        </p:txBody>
      </p:sp>
      <p:sp>
        <p:nvSpPr>
          <p:cNvPr id="6" name="Text 4"/>
          <p:cNvSpPr/>
          <p:nvPr/>
        </p:nvSpPr>
        <p:spPr>
          <a:xfrm>
            <a:off x="822960" y="3794760"/>
            <a:ext cx="8595360" cy="822960"/>
          </a:xfrm>
          <a:prstGeom prst="rect">
            <a:avLst/>
          </a:prstGeom>
          <a:noFill/>
          <a:ln/>
        </p:spPr>
        <p:txBody>
          <a:bodyPr wrap="square" lIns="0" tIns="0" rIns="0" bIns="0" rtlCol="0" anchor="ctr"/>
          <a:lstStyle/>
          <a:p>
            <a:pPr marL="0" indent="0">
              <a:lnSpc>
                <a:spcPts val="2400"/>
              </a:lnSpc>
              <a:buNone/>
            </a:pPr>
            <a:r>
              <a:rPr lang="en-US" sz="1600" dirty="0">
                <a:solidFill>
                  <a:srgbClr val="AEB9CD"/>
                </a:solidFill>
                <a:latin typeface="Calibri" pitchFamily="34" charset="0"/>
                <a:ea typeface="Calibri" pitchFamily="34" charset="-122"/>
                <a:cs typeface="Calibri" pitchFamily="34" charset="-120"/>
              </a:rPr>
              <a:t>Handgelenke und Knöchel, kein Magnetometer, sechs Aufnahmen — und was</a:t>
            </a:r>
            <a:endParaRPr lang="en-US" sz="1600" dirty="0"/>
          </a:p>
          <a:p>
            <a:pPr marL="0" indent="0">
              <a:lnSpc>
                <a:spcPts val="2400"/>
              </a:lnSpc>
              <a:buNone/>
            </a:pPr>
            <a:r>
              <a:rPr lang="en-US" sz="1600" dirty="0">
                <a:solidFill>
                  <a:srgbClr val="AEB9CD"/>
                </a:solidFill>
                <a:latin typeface="Calibri" pitchFamily="34" charset="0"/>
                <a:ea typeface="Calibri" pitchFamily="34" charset="-122"/>
                <a:cs typeface="Calibri" pitchFamily="34" charset="-120"/>
              </a:rPr>
              <a:t>synthetische Bewegungsdaten aus AMASS daran ändern.</a:t>
            </a:r>
            <a:endParaRPr lang="en-US" sz="1600" dirty="0"/>
          </a:p>
        </p:txBody>
      </p:sp>
      <p:sp>
        <p:nvSpPr>
          <p:cNvPr id="7" name="Shape 5"/>
          <p:cNvSpPr/>
          <p:nvPr/>
        </p:nvSpPr>
        <p:spPr>
          <a:xfrm>
            <a:off x="822960" y="5029200"/>
            <a:ext cx="2788920" cy="475488"/>
          </a:xfrm>
          <a:prstGeom prst="roundRect">
            <a:avLst>
              <a:gd name="adj" fmla="val 19231"/>
            </a:avLst>
          </a:prstGeom>
          <a:solidFill>
            <a:srgbClr val="16294A"/>
          </a:solidFill>
          <a:ln w="9525">
            <a:solidFill>
              <a:srgbClr val="2A4770"/>
            </a:solidFill>
            <a:prstDash val="solid"/>
          </a:ln>
        </p:spPr>
        <p:txBody>
          <a:bodyPr/>
          <a:lstStyle/>
          <a:p>
            <a:endParaRPr lang="en-DE"/>
          </a:p>
        </p:txBody>
      </p:sp>
      <p:sp>
        <p:nvSpPr>
          <p:cNvPr id="8" name="Text 6"/>
          <p:cNvSpPr/>
          <p:nvPr/>
        </p:nvSpPr>
        <p:spPr>
          <a:xfrm>
            <a:off x="822960" y="5029200"/>
            <a:ext cx="2788920" cy="475488"/>
          </a:xfrm>
          <a:prstGeom prst="rect">
            <a:avLst/>
          </a:prstGeom>
          <a:noFill/>
          <a:ln/>
        </p:spPr>
        <p:txBody>
          <a:bodyPr wrap="square" lIns="0" tIns="0" rIns="0" bIns="0" rtlCol="0" anchor="ctr"/>
          <a:lstStyle/>
          <a:p>
            <a:pPr marL="0" indent="0" algn="ctr">
              <a:buNone/>
            </a:pPr>
            <a:r>
              <a:rPr lang="en-US" sz="1300" dirty="0">
                <a:solidFill>
                  <a:srgbClr val="CFE0FB"/>
                </a:solidFill>
                <a:latin typeface="Calibri" pitchFamily="34" charset="0"/>
                <a:ea typeface="Calibri" pitchFamily="34" charset="-122"/>
                <a:cs typeface="Calibri" pitchFamily="34" charset="-120"/>
              </a:rPr>
              <a:t>4 Sensoren · 13 Gelenke</a:t>
            </a:r>
            <a:endParaRPr lang="en-US" sz="1300" dirty="0"/>
          </a:p>
        </p:txBody>
      </p:sp>
      <p:sp>
        <p:nvSpPr>
          <p:cNvPr id="9" name="Text 7"/>
          <p:cNvSpPr/>
          <p:nvPr/>
        </p:nvSpPr>
        <p:spPr>
          <a:xfrm>
            <a:off x="822960" y="5806440"/>
            <a:ext cx="7315200" cy="320040"/>
          </a:xfrm>
          <a:prstGeom prst="rect">
            <a:avLst/>
          </a:prstGeom>
          <a:noFill/>
          <a:ln/>
        </p:spPr>
        <p:txBody>
          <a:bodyPr wrap="square" lIns="0" tIns="0" rIns="0" bIns="0" rtlCol="0" anchor="ctr"/>
          <a:lstStyle/>
          <a:p>
            <a:pPr marL="0" indent="0">
              <a:buNone/>
            </a:pPr>
            <a:r>
              <a:rPr lang="en-US" sz="1400" dirty="0">
                <a:solidFill>
                  <a:srgbClr val="7D8AA2"/>
                </a:solidFill>
                <a:latin typeface="Calibri" pitchFamily="34" charset="0"/>
                <a:ea typeface="Calibri" pitchFamily="34" charset="-122"/>
                <a:cs typeface="Calibri" pitchFamily="34" charset="-120"/>
              </a:rPr>
              <a:t>Dalia Salih · Anton Rabanus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AUFGABE</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Vier Sensoren, dreizehn Gelenke</a:t>
            </a:r>
            <a:endParaRPr lang="en-US" sz="3300" dirty="0"/>
          </a:p>
        </p:txBody>
      </p:sp>
      <p:sp>
        <p:nvSpPr>
          <p:cNvPr id="4" name="Shape 2"/>
          <p:cNvSpPr/>
          <p:nvPr/>
        </p:nvSpPr>
        <p:spPr>
          <a:xfrm>
            <a:off x="548640" y="1481328"/>
            <a:ext cx="5029200" cy="4617720"/>
          </a:xfrm>
          <a:prstGeom prst="roundRect">
            <a:avLst>
              <a:gd name="adj" fmla="val 277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Shape 3"/>
          <p:cNvSpPr/>
          <p:nvPr/>
        </p:nvSpPr>
        <p:spPr>
          <a:xfrm>
            <a:off x="2569464" y="1828800"/>
            <a:ext cx="438912" cy="438912"/>
          </a:xfrm>
          <a:prstGeom prst="ellipse">
            <a:avLst/>
          </a:prstGeom>
          <a:solidFill>
            <a:srgbClr val="C7D6ED"/>
          </a:solidFill>
          <a:ln/>
        </p:spPr>
        <p:txBody>
          <a:bodyPr/>
          <a:lstStyle/>
          <a:p>
            <a:endParaRPr lang="en-DE"/>
          </a:p>
        </p:txBody>
      </p:sp>
      <p:sp>
        <p:nvSpPr>
          <p:cNvPr id="6" name="Shape 4"/>
          <p:cNvSpPr/>
          <p:nvPr/>
        </p:nvSpPr>
        <p:spPr>
          <a:xfrm>
            <a:off x="2788920" y="2395728"/>
            <a:ext cx="0" cy="1033272"/>
          </a:xfrm>
          <a:prstGeom prst="line">
            <a:avLst/>
          </a:prstGeom>
          <a:noFill/>
          <a:ln w="50800">
            <a:solidFill>
              <a:srgbClr val="A9BDD9"/>
            </a:solidFill>
            <a:prstDash val="solid"/>
          </a:ln>
        </p:spPr>
        <p:txBody>
          <a:bodyPr/>
          <a:lstStyle/>
          <a:p>
            <a:endParaRPr lang="en-DE"/>
          </a:p>
        </p:txBody>
      </p:sp>
      <p:sp>
        <p:nvSpPr>
          <p:cNvPr id="7" name="Shape 5"/>
          <p:cNvSpPr/>
          <p:nvPr/>
        </p:nvSpPr>
        <p:spPr>
          <a:xfrm>
            <a:off x="2221992" y="2395728"/>
            <a:ext cx="1133856" cy="0"/>
          </a:xfrm>
          <a:prstGeom prst="line">
            <a:avLst/>
          </a:prstGeom>
          <a:noFill/>
          <a:ln w="50800">
            <a:solidFill>
              <a:srgbClr val="A9BDD9"/>
            </a:solidFill>
            <a:prstDash val="solid"/>
          </a:ln>
        </p:spPr>
        <p:txBody>
          <a:bodyPr/>
          <a:lstStyle/>
          <a:p>
            <a:endParaRPr lang="en-DE"/>
          </a:p>
        </p:txBody>
      </p:sp>
      <p:sp>
        <p:nvSpPr>
          <p:cNvPr id="8" name="Shape 6"/>
          <p:cNvSpPr/>
          <p:nvPr/>
        </p:nvSpPr>
        <p:spPr>
          <a:xfrm flipH="1">
            <a:off x="1856232" y="2395728"/>
            <a:ext cx="365760" cy="658368"/>
          </a:xfrm>
          <a:prstGeom prst="line">
            <a:avLst/>
          </a:prstGeom>
          <a:noFill/>
          <a:ln w="50800">
            <a:solidFill>
              <a:srgbClr val="A9BDD9"/>
            </a:solidFill>
            <a:prstDash val="solid"/>
          </a:ln>
        </p:spPr>
        <p:txBody>
          <a:bodyPr/>
          <a:lstStyle/>
          <a:p>
            <a:endParaRPr lang="en-DE"/>
          </a:p>
        </p:txBody>
      </p:sp>
      <p:sp>
        <p:nvSpPr>
          <p:cNvPr id="9" name="Shape 7"/>
          <p:cNvSpPr/>
          <p:nvPr/>
        </p:nvSpPr>
        <p:spPr>
          <a:xfrm>
            <a:off x="1856232" y="3054096"/>
            <a:ext cx="219456" cy="713232"/>
          </a:xfrm>
          <a:prstGeom prst="line">
            <a:avLst/>
          </a:prstGeom>
          <a:noFill/>
          <a:ln w="50800">
            <a:solidFill>
              <a:srgbClr val="A9BDD9"/>
            </a:solidFill>
            <a:prstDash val="solid"/>
          </a:ln>
        </p:spPr>
        <p:txBody>
          <a:bodyPr/>
          <a:lstStyle/>
          <a:p>
            <a:endParaRPr lang="en-DE"/>
          </a:p>
        </p:txBody>
      </p:sp>
      <p:sp>
        <p:nvSpPr>
          <p:cNvPr id="10" name="Shape 8"/>
          <p:cNvSpPr/>
          <p:nvPr/>
        </p:nvSpPr>
        <p:spPr>
          <a:xfrm>
            <a:off x="3355848" y="2395728"/>
            <a:ext cx="365760" cy="658368"/>
          </a:xfrm>
          <a:prstGeom prst="line">
            <a:avLst/>
          </a:prstGeom>
          <a:noFill/>
          <a:ln w="50800">
            <a:solidFill>
              <a:srgbClr val="A9BDD9"/>
            </a:solidFill>
            <a:prstDash val="solid"/>
          </a:ln>
        </p:spPr>
        <p:txBody>
          <a:bodyPr/>
          <a:lstStyle/>
          <a:p>
            <a:endParaRPr lang="en-DE"/>
          </a:p>
        </p:txBody>
      </p:sp>
      <p:sp>
        <p:nvSpPr>
          <p:cNvPr id="11" name="Shape 9"/>
          <p:cNvSpPr/>
          <p:nvPr/>
        </p:nvSpPr>
        <p:spPr>
          <a:xfrm flipH="1">
            <a:off x="3502152" y="3054096"/>
            <a:ext cx="219456" cy="713232"/>
          </a:xfrm>
          <a:prstGeom prst="line">
            <a:avLst/>
          </a:prstGeom>
          <a:noFill/>
          <a:ln w="50800">
            <a:solidFill>
              <a:srgbClr val="A9BDD9"/>
            </a:solidFill>
            <a:prstDash val="solid"/>
          </a:ln>
        </p:spPr>
        <p:txBody>
          <a:bodyPr/>
          <a:lstStyle/>
          <a:p>
            <a:endParaRPr lang="en-DE"/>
          </a:p>
        </p:txBody>
      </p:sp>
      <p:sp>
        <p:nvSpPr>
          <p:cNvPr id="12" name="Shape 10"/>
          <p:cNvSpPr/>
          <p:nvPr/>
        </p:nvSpPr>
        <p:spPr>
          <a:xfrm>
            <a:off x="2478024" y="3429000"/>
            <a:ext cx="621792" cy="0"/>
          </a:xfrm>
          <a:prstGeom prst="line">
            <a:avLst/>
          </a:prstGeom>
          <a:noFill/>
          <a:ln w="50800">
            <a:solidFill>
              <a:srgbClr val="A9BDD9"/>
            </a:solidFill>
            <a:prstDash val="solid"/>
          </a:ln>
        </p:spPr>
        <p:txBody>
          <a:bodyPr/>
          <a:lstStyle/>
          <a:p>
            <a:endParaRPr lang="en-DE"/>
          </a:p>
        </p:txBody>
      </p:sp>
      <p:sp>
        <p:nvSpPr>
          <p:cNvPr id="13" name="Shape 11"/>
          <p:cNvSpPr/>
          <p:nvPr/>
        </p:nvSpPr>
        <p:spPr>
          <a:xfrm flipH="1">
            <a:off x="2313432" y="3429000"/>
            <a:ext cx="164592" cy="868680"/>
          </a:xfrm>
          <a:prstGeom prst="line">
            <a:avLst/>
          </a:prstGeom>
          <a:noFill/>
          <a:ln w="50800">
            <a:solidFill>
              <a:srgbClr val="A9BDD9"/>
            </a:solidFill>
            <a:prstDash val="solid"/>
          </a:ln>
        </p:spPr>
        <p:txBody>
          <a:bodyPr/>
          <a:lstStyle/>
          <a:p>
            <a:endParaRPr lang="en-DE"/>
          </a:p>
        </p:txBody>
      </p:sp>
      <p:sp>
        <p:nvSpPr>
          <p:cNvPr id="14" name="Shape 12"/>
          <p:cNvSpPr/>
          <p:nvPr/>
        </p:nvSpPr>
        <p:spPr>
          <a:xfrm>
            <a:off x="2313432" y="4297680"/>
            <a:ext cx="109728" cy="822960"/>
          </a:xfrm>
          <a:prstGeom prst="line">
            <a:avLst/>
          </a:prstGeom>
          <a:noFill/>
          <a:ln w="50800">
            <a:solidFill>
              <a:srgbClr val="A9BDD9"/>
            </a:solidFill>
            <a:prstDash val="solid"/>
          </a:ln>
        </p:spPr>
        <p:txBody>
          <a:bodyPr/>
          <a:lstStyle/>
          <a:p>
            <a:endParaRPr lang="en-DE"/>
          </a:p>
        </p:txBody>
      </p:sp>
      <p:sp>
        <p:nvSpPr>
          <p:cNvPr id="15" name="Shape 13"/>
          <p:cNvSpPr/>
          <p:nvPr/>
        </p:nvSpPr>
        <p:spPr>
          <a:xfrm>
            <a:off x="3099816" y="3429000"/>
            <a:ext cx="164592" cy="868680"/>
          </a:xfrm>
          <a:prstGeom prst="line">
            <a:avLst/>
          </a:prstGeom>
          <a:noFill/>
          <a:ln w="50800">
            <a:solidFill>
              <a:srgbClr val="A9BDD9"/>
            </a:solidFill>
            <a:prstDash val="solid"/>
          </a:ln>
        </p:spPr>
        <p:txBody>
          <a:bodyPr/>
          <a:lstStyle/>
          <a:p>
            <a:endParaRPr lang="en-DE"/>
          </a:p>
        </p:txBody>
      </p:sp>
      <p:sp>
        <p:nvSpPr>
          <p:cNvPr id="16" name="Shape 14"/>
          <p:cNvSpPr/>
          <p:nvPr/>
        </p:nvSpPr>
        <p:spPr>
          <a:xfrm flipH="1">
            <a:off x="3154680" y="4297680"/>
            <a:ext cx="109728" cy="822960"/>
          </a:xfrm>
          <a:prstGeom prst="line">
            <a:avLst/>
          </a:prstGeom>
          <a:noFill/>
          <a:ln w="50800">
            <a:solidFill>
              <a:srgbClr val="A9BDD9"/>
            </a:solidFill>
            <a:prstDash val="solid"/>
          </a:ln>
        </p:spPr>
        <p:txBody>
          <a:bodyPr/>
          <a:lstStyle/>
          <a:p>
            <a:endParaRPr lang="en-DE"/>
          </a:p>
        </p:txBody>
      </p:sp>
      <p:sp>
        <p:nvSpPr>
          <p:cNvPr id="17" name="Shape 15"/>
          <p:cNvSpPr/>
          <p:nvPr/>
        </p:nvSpPr>
        <p:spPr>
          <a:xfrm>
            <a:off x="1901952" y="3593592"/>
            <a:ext cx="347472" cy="347472"/>
          </a:xfrm>
          <a:prstGeom prst="ellipse">
            <a:avLst/>
          </a:prstGeom>
          <a:solidFill>
            <a:srgbClr val="D9661B"/>
          </a:solidFill>
          <a:ln w="25400">
            <a:solidFill>
              <a:srgbClr val="FFFFFF"/>
            </a:solidFill>
            <a:prstDash val="solid"/>
          </a:ln>
        </p:spPr>
        <p:txBody>
          <a:bodyPr/>
          <a:lstStyle/>
          <a:p>
            <a:endParaRPr lang="en-DE"/>
          </a:p>
        </p:txBody>
      </p:sp>
      <p:sp>
        <p:nvSpPr>
          <p:cNvPr id="18" name="Text 16"/>
          <p:cNvSpPr/>
          <p:nvPr/>
        </p:nvSpPr>
        <p:spPr>
          <a:xfrm>
            <a:off x="841248" y="3639312"/>
            <a:ext cx="960120" cy="256032"/>
          </a:xfrm>
          <a:prstGeom prst="rect">
            <a:avLst/>
          </a:prstGeom>
          <a:noFill/>
          <a:ln/>
        </p:spPr>
        <p:txBody>
          <a:bodyPr wrap="square" lIns="0" tIns="0" rIns="0" bIns="0" rtlCol="0" anchor="ctr"/>
          <a:lstStyle/>
          <a:p>
            <a:pPr marL="0" indent="0" algn="r">
              <a:buNone/>
            </a:pPr>
            <a:r>
              <a:rPr lang="en-US" sz="1050" dirty="0">
                <a:solidFill>
                  <a:srgbClr val="7D8AA2"/>
                </a:solidFill>
                <a:latin typeface="Calibri" pitchFamily="34" charset="0"/>
                <a:ea typeface="Calibri" pitchFamily="34" charset="-122"/>
                <a:cs typeface="Calibri" pitchFamily="34" charset="-120"/>
              </a:rPr>
              <a:t>links</a:t>
            </a:r>
            <a:endParaRPr lang="en-US" sz="1050" dirty="0"/>
          </a:p>
        </p:txBody>
      </p:sp>
      <p:sp>
        <p:nvSpPr>
          <p:cNvPr id="19" name="Shape 17"/>
          <p:cNvSpPr/>
          <p:nvPr/>
        </p:nvSpPr>
        <p:spPr>
          <a:xfrm>
            <a:off x="3328416" y="3593592"/>
            <a:ext cx="347472" cy="347472"/>
          </a:xfrm>
          <a:prstGeom prst="ellipse">
            <a:avLst/>
          </a:prstGeom>
          <a:solidFill>
            <a:srgbClr val="D9661B"/>
          </a:solidFill>
          <a:ln w="25400">
            <a:solidFill>
              <a:srgbClr val="FFFFFF"/>
            </a:solidFill>
            <a:prstDash val="solid"/>
          </a:ln>
        </p:spPr>
        <p:txBody>
          <a:bodyPr/>
          <a:lstStyle/>
          <a:p>
            <a:endParaRPr lang="en-DE"/>
          </a:p>
        </p:txBody>
      </p:sp>
      <p:sp>
        <p:nvSpPr>
          <p:cNvPr id="20" name="Text 18"/>
          <p:cNvSpPr/>
          <p:nvPr/>
        </p:nvSpPr>
        <p:spPr>
          <a:xfrm>
            <a:off x="3758184" y="3639312"/>
            <a:ext cx="960120" cy="256032"/>
          </a:xfrm>
          <a:prstGeom prst="rect">
            <a:avLst/>
          </a:prstGeom>
          <a:noFill/>
          <a:ln/>
        </p:spPr>
        <p:txBody>
          <a:bodyPr wrap="square" lIns="0" tIns="0" rIns="0" bIns="0" rtlCol="0" anchor="ctr"/>
          <a:lstStyle/>
          <a:p>
            <a:pPr marL="0" indent="0" algn="l">
              <a:buNone/>
            </a:pPr>
            <a:r>
              <a:rPr lang="en-US" sz="1050" dirty="0">
                <a:solidFill>
                  <a:srgbClr val="7D8AA2"/>
                </a:solidFill>
                <a:latin typeface="Calibri" pitchFamily="34" charset="0"/>
                <a:ea typeface="Calibri" pitchFamily="34" charset="-122"/>
                <a:cs typeface="Calibri" pitchFamily="34" charset="-120"/>
              </a:rPr>
              <a:t>rechts</a:t>
            </a:r>
            <a:endParaRPr lang="en-US" sz="1050" dirty="0"/>
          </a:p>
        </p:txBody>
      </p:sp>
      <p:sp>
        <p:nvSpPr>
          <p:cNvPr id="21" name="Shape 19"/>
          <p:cNvSpPr/>
          <p:nvPr/>
        </p:nvSpPr>
        <p:spPr>
          <a:xfrm>
            <a:off x="2249424" y="4946904"/>
            <a:ext cx="347472" cy="347472"/>
          </a:xfrm>
          <a:prstGeom prst="ellipse">
            <a:avLst/>
          </a:prstGeom>
          <a:solidFill>
            <a:srgbClr val="D9661B"/>
          </a:solidFill>
          <a:ln w="25400">
            <a:solidFill>
              <a:srgbClr val="FFFFFF"/>
            </a:solidFill>
            <a:prstDash val="solid"/>
          </a:ln>
        </p:spPr>
        <p:txBody>
          <a:bodyPr/>
          <a:lstStyle/>
          <a:p>
            <a:endParaRPr lang="en-DE"/>
          </a:p>
        </p:txBody>
      </p:sp>
      <p:sp>
        <p:nvSpPr>
          <p:cNvPr id="22" name="Text 20"/>
          <p:cNvSpPr/>
          <p:nvPr/>
        </p:nvSpPr>
        <p:spPr>
          <a:xfrm>
            <a:off x="1188720" y="4992624"/>
            <a:ext cx="960120" cy="256032"/>
          </a:xfrm>
          <a:prstGeom prst="rect">
            <a:avLst/>
          </a:prstGeom>
          <a:noFill/>
          <a:ln/>
        </p:spPr>
        <p:txBody>
          <a:bodyPr wrap="square" lIns="0" tIns="0" rIns="0" bIns="0" rtlCol="0" anchor="ctr"/>
          <a:lstStyle/>
          <a:p>
            <a:pPr marL="0" indent="0" algn="r">
              <a:buNone/>
            </a:pPr>
            <a:r>
              <a:rPr lang="en-US" sz="1050" dirty="0">
                <a:solidFill>
                  <a:srgbClr val="7D8AA2"/>
                </a:solidFill>
                <a:latin typeface="Calibri" pitchFamily="34" charset="0"/>
                <a:ea typeface="Calibri" pitchFamily="34" charset="-122"/>
                <a:cs typeface="Calibri" pitchFamily="34" charset="-120"/>
              </a:rPr>
              <a:t>links</a:t>
            </a:r>
            <a:endParaRPr lang="en-US" sz="1050" dirty="0"/>
          </a:p>
        </p:txBody>
      </p:sp>
      <p:sp>
        <p:nvSpPr>
          <p:cNvPr id="23" name="Shape 21"/>
          <p:cNvSpPr/>
          <p:nvPr/>
        </p:nvSpPr>
        <p:spPr>
          <a:xfrm>
            <a:off x="2980944" y="4946904"/>
            <a:ext cx="347472" cy="347472"/>
          </a:xfrm>
          <a:prstGeom prst="ellipse">
            <a:avLst/>
          </a:prstGeom>
          <a:solidFill>
            <a:srgbClr val="D9661B"/>
          </a:solidFill>
          <a:ln w="25400">
            <a:solidFill>
              <a:srgbClr val="FFFFFF"/>
            </a:solidFill>
            <a:prstDash val="solid"/>
          </a:ln>
        </p:spPr>
        <p:txBody>
          <a:bodyPr/>
          <a:lstStyle/>
          <a:p>
            <a:endParaRPr lang="en-DE"/>
          </a:p>
        </p:txBody>
      </p:sp>
      <p:sp>
        <p:nvSpPr>
          <p:cNvPr id="24" name="Text 22"/>
          <p:cNvSpPr/>
          <p:nvPr/>
        </p:nvSpPr>
        <p:spPr>
          <a:xfrm>
            <a:off x="3410712" y="4992624"/>
            <a:ext cx="960120" cy="256032"/>
          </a:xfrm>
          <a:prstGeom prst="rect">
            <a:avLst/>
          </a:prstGeom>
          <a:noFill/>
          <a:ln/>
        </p:spPr>
        <p:txBody>
          <a:bodyPr wrap="square" lIns="0" tIns="0" rIns="0" bIns="0" rtlCol="0" anchor="ctr"/>
          <a:lstStyle/>
          <a:p>
            <a:pPr marL="0" indent="0" algn="l">
              <a:buNone/>
            </a:pPr>
            <a:r>
              <a:rPr lang="en-US" sz="1050" dirty="0">
                <a:solidFill>
                  <a:srgbClr val="7D8AA2"/>
                </a:solidFill>
                <a:latin typeface="Calibri" pitchFamily="34" charset="0"/>
                <a:ea typeface="Calibri" pitchFamily="34" charset="-122"/>
                <a:cs typeface="Calibri" pitchFamily="34" charset="-120"/>
              </a:rPr>
              <a:t>rechts</a:t>
            </a:r>
            <a:endParaRPr lang="en-US" sz="1050" dirty="0"/>
          </a:p>
        </p:txBody>
      </p:sp>
      <p:sp>
        <p:nvSpPr>
          <p:cNvPr id="25" name="Text 23"/>
          <p:cNvSpPr/>
          <p:nvPr/>
        </p:nvSpPr>
        <p:spPr>
          <a:xfrm>
            <a:off x="822960" y="2212848"/>
            <a:ext cx="1417320" cy="256032"/>
          </a:xfrm>
          <a:prstGeom prst="rect">
            <a:avLst/>
          </a:prstGeom>
          <a:noFill/>
          <a:ln/>
        </p:spPr>
        <p:txBody>
          <a:bodyPr wrap="square" lIns="0" tIns="0" rIns="0" bIns="0" rtlCol="0" anchor="ctr"/>
          <a:lstStyle/>
          <a:p>
            <a:pPr marL="0" indent="0">
              <a:buNone/>
            </a:pPr>
            <a:r>
              <a:rPr lang="en-US" sz="1100" b="1" dirty="0">
                <a:solidFill>
                  <a:srgbClr val="D9661B"/>
                </a:solidFill>
                <a:latin typeface="Calibri" pitchFamily="34" charset="0"/>
                <a:ea typeface="Calibri" pitchFamily="34" charset="-122"/>
                <a:cs typeface="Calibri" pitchFamily="34" charset="-120"/>
              </a:rPr>
              <a:t>Handgelenke</a:t>
            </a:r>
            <a:endParaRPr lang="en-US" sz="1100" dirty="0"/>
          </a:p>
        </p:txBody>
      </p:sp>
      <p:sp>
        <p:nvSpPr>
          <p:cNvPr id="26" name="Text 24"/>
          <p:cNvSpPr/>
          <p:nvPr/>
        </p:nvSpPr>
        <p:spPr>
          <a:xfrm>
            <a:off x="822960" y="4224528"/>
            <a:ext cx="1417320" cy="256032"/>
          </a:xfrm>
          <a:prstGeom prst="rect">
            <a:avLst/>
          </a:prstGeom>
          <a:noFill/>
          <a:ln/>
        </p:spPr>
        <p:txBody>
          <a:bodyPr wrap="square" lIns="0" tIns="0" rIns="0" bIns="0" rtlCol="0" anchor="ctr"/>
          <a:lstStyle/>
          <a:p>
            <a:pPr marL="0" indent="0">
              <a:buNone/>
            </a:pPr>
            <a:r>
              <a:rPr lang="en-US" sz="1100" b="1" dirty="0">
                <a:solidFill>
                  <a:srgbClr val="D9661B"/>
                </a:solidFill>
                <a:latin typeface="Calibri" pitchFamily="34" charset="0"/>
                <a:ea typeface="Calibri" pitchFamily="34" charset="-122"/>
                <a:cs typeface="Calibri" pitchFamily="34" charset="-120"/>
              </a:rPr>
              <a:t>Knöchel</a:t>
            </a:r>
            <a:endParaRPr lang="en-US" sz="1100" dirty="0"/>
          </a:p>
        </p:txBody>
      </p:sp>
      <p:sp>
        <p:nvSpPr>
          <p:cNvPr id="27" name="Shape 25"/>
          <p:cNvSpPr/>
          <p:nvPr/>
        </p:nvSpPr>
        <p:spPr>
          <a:xfrm>
            <a:off x="868680" y="5394960"/>
            <a:ext cx="4389120" cy="502920"/>
          </a:xfrm>
          <a:prstGeom prst="roundRect">
            <a:avLst>
              <a:gd name="adj" fmla="val 16364"/>
            </a:avLst>
          </a:prstGeom>
          <a:solidFill>
            <a:srgbClr val="E9F0FB"/>
          </a:solidFill>
          <a:ln/>
        </p:spPr>
        <p:txBody>
          <a:bodyPr/>
          <a:lstStyle/>
          <a:p>
            <a:endParaRPr lang="en-DE"/>
          </a:p>
        </p:txBody>
      </p:sp>
      <p:sp>
        <p:nvSpPr>
          <p:cNvPr id="28" name="Text 26"/>
          <p:cNvSpPr/>
          <p:nvPr/>
        </p:nvSpPr>
        <p:spPr>
          <a:xfrm>
            <a:off x="868680" y="5394960"/>
            <a:ext cx="4389120" cy="502920"/>
          </a:xfrm>
          <a:prstGeom prst="rect">
            <a:avLst/>
          </a:prstGeom>
          <a:noFill/>
          <a:ln/>
        </p:spPr>
        <p:txBody>
          <a:bodyPr wrap="square" lIns="0" tIns="0" rIns="0" bIns="0" rtlCol="0" anchor="ctr"/>
          <a:lstStyle/>
          <a:p>
            <a:pPr marL="0" indent="0" algn="ctr">
              <a:buNone/>
            </a:pPr>
            <a:r>
              <a:rPr lang="en-US" sz="1150" dirty="0">
                <a:solidFill>
                  <a:srgbClr val="44577A"/>
                </a:solidFill>
                <a:latin typeface="Calibri" pitchFamily="34" charset="0"/>
                <a:ea typeface="Calibri" pitchFamily="34" charset="-122"/>
                <a:cs typeface="Calibri" pitchFamily="34" charset="-120"/>
              </a:rPr>
              <a:t>Axivity AX6 · 200 Hz · Beschleunigung + Drehrate</a:t>
            </a:r>
            <a:endParaRPr lang="en-US" sz="1150" dirty="0"/>
          </a:p>
        </p:txBody>
      </p:sp>
      <p:sp>
        <p:nvSpPr>
          <p:cNvPr id="29" name="Shape 27"/>
          <p:cNvSpPr/>
          <p:nvPr/>
        </p:nvSpPr>
        <p:spPr>
          <a:xfrm>
            <a:off x="5897880" y="1481328"/>
            <a:ext cx="5715000" cy="2148840"/>
          </a:xfrm>
          <a:prstGeom prst="roundRect">
            <a:avLst>
              <a:gd name="adj" fmla="val 595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30" name="Text 28"/>
          <p:cNvSpPr/>
          <p:nvPr/>
        </p:nvSpPr>
        <p:spPr>
          <a:xfrm>
            <a:off x="6217920" y="1691640"/>
            <a:ext cx="5120640" cy="292608"/>
          </a:xfrm>
          <a:prstGeom prst="rect">
            <a:avLst/>
          </a:prstGeom>
          <a:noFill/>
          <a:ln/>
        </p:spPr>
        <p:txBody>
          <a:bodyPr wrap="square" lIns="0" tIns="0" rIns="0" bIns="0" rtlCol="0" anchor="ctr"/>
          <a:lstStyle/>
          <a:p>
            <a:pPr marL="0" indent="0">
              <a:buNone/>
            </a:pPr>
            <a:r>
              <a:rPr lang="en-US" sz="1600" b="1" dirty="0">
                <a:solidFill>
                  <a:srgbClr val="0F1E38"/>
                </a:solidFill>
                <a:latin typeface="Calibri" pitchFamily="34" charset="0"/>
                <a:ea typeface="Calibri" pitchFamily="34" charset="-122"/>
                <a:cs typeface="Calibri" pitchFamily="34" charset="-120"/>
              </a:rPr>
              <a:t>Was vorliegt</a:t>
            </a:r>
            <a:endParaRPr lang="en-US" sz="1600" dirty="0"/>
          </a:p>
        </p:txBody>
      </p:sp>
      <p:sp>
        <p:nvSpPr>
          <p:cNvPr id="31" name="Text 29"/>
          <p:cNvSpPr/>
          <p:nvPr/>
        </p:nvSpPr>
        <p:spPr>
          <a:xfrm>
            <a:off x="6217920" y="2103120"/>
            <a:ext cx="5074920" cy="1417320"/>
          </a:xfrm>
          <a:prstGeom prst="rect">
            <a:avLst/>
          </a:prstGeom>
          <a:noFill/>
          <a:ln/>
        </p:spPr>
        <p:txBody>
          <a:bodyPr wrap="square" lIns="0" tIns="0" rIns="0" bIns="0" rtlCol="0" anchor="ctr"/>
          <a:lstStyle/>
          <a:p>
            <a:pPr marL="342900" indent="-342900">
              <a:lnSpc>
                <a:spcPts val="1700"/>
              </a:lnSpc>
              <a:spcAft>
                <a:spcPts val="500"/>
              </a:spcAft>
              <a:buSzPct val="100000"/>
              <a:buChar char="•"/>
            </a:pPr>
            <a:r>
              <a:rPr lang="en-US" sz="1350" dirty="0">
                <a:solidFill>
                  <a:srgbClr val="44577A"/>
                </a:solidFill>
                <a:latin typeface="Calibri" pitchFamily="34" charset="0"/>
                <a:ea typeface="Calibri" pitchFamily="34" charset="-122"/>
                <a:cs typeface="Calibri" pitchFamily="34" charset="-120"/>
              </a:rPr>
              <a:t>Sechs synchron aufgenommene Videos, insgesamt rund eine Stunde</a:t>
            </a:r>
            <a:endParaRPr lang="en-US" sz="1350" dirty="0"/>
          </a:p>
          <a:p>
            <a:pPr marL="342900" indent="-342900">
              <a:lnSpc>
                <a:spcPts val="1700"/>
              </a:lnSpc>
              <a:spcAft>
                <a:spcPts val="500"/>
              </a:spcAft>
              <a:buSzPct val="100000"/>
              <a:buChar char="•"/>
            </a:pPr>
            <a:r>
              <a:rPr lang="en-US" sz="1350" dirty="0">
                <a:solidFill>
                  <a:srgbClr val="44577A"/>
                </a:solidFill>
                <a:latin typeface="Calibri" pitchFamily="34" charset="0"/>
                <a:ea typeface="Calibri" pitchFamily="34" charset="-122"/>
                <a:cs typeface="Calibri" pitchFamily="34" charset="-120"/>
              </a:rPr>
              <a:t>Ground Truth aus MediaPipe auf dem Video, rund 50 fps</a:t>
            </a:r>
            <a:endParaRPr lang="en-US" sz="1350" dirty="0"/>
          </a:p>
        </p:txBody>
      </p:sp>
      <p:sp>
        <p:nvSpPr>
          <p:cNvPr id="32" name="Shape 30"/>
          <p:cNvSpPr/>
          <p:nvPr/>
        </p:nvSpPr>
        <p:spPr>
          <a:xfrm>
            <a:off x="5897880" y="3858768"/>
            <a:ext cx="5715000" cy="2240280"/>
          </a:xfrm>
          <a:prstGeom prst="roundRect">
            <a:avLst>
              <a:gd name="adj" fmla="val 5714"/>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33" name="Text 31"/>
          <p:cNvSpPr/>
          <p:nvPr/>
        </p:nvSpPr>
        <p:spPr>
          <a:xfrm>
            <a:off x="6217920" y="4069080"/>
            <a:ext cx="5120640" cy="292608"/>
          </a:xfrm>
          <a:prstGeom prst="rect">
            <a:avLst/>
          </a:prstGeom>
          <a:noFill/>
          <a:ln/>
        </p:spPr>
        <p:txBody>
          <a:bodyPr wrap="square" lIns="0" tIns="0" rIns="0" bIns="0" rtlCol="0" anchor="ctr"/>
          <a:lstStyle/>
          <a:p>
            <a:pPr marL="0" indent="0">
              <a:buNone/>
            </a:pPr>
            <a:r>
              <a:rPr lang="en-US" sz="1600" b="1" dirty="0">
                <a:solidFill>
                  <a:srgbClr val="0F1E38"/>
                </a:solidFill>
                <a:latin typeface="Calibri" pitchFamily="34" charset="0"/>
                <a:ea typeface="Calibri" pitchFamily="34" charset="-122"/>
                <a:cs typeface="Calibri" pitchFamily="34" charset="-120"/>
              </a:rPr>
              <a:t>Ziel</a:t>
            </a:r>
            <a:endParaRPr lang="en-US" sz="1600" dirty="0"/>
          </a:p>
        </p:txBody>
      </p:sp>
      <p:sp>
        <p:nvSpPr>
          <p:cNvPr id="34" name="Text 32"/>
          <p:cNvSpPr/>
          <p:nvPr/>
        </p:nvSpPr>
        <p:spPr>
          <a:xfrm>
            <a:off x="6217920" y="4434840"/>
            <a:ext cx="5074920" cy="640080"/>
          </a:xfrm>
          <a:prstGeom prst="rect">
            <a:avLst/>
          </a:prstGeom>
          <a:noFill/>
          <a:ln/>
        </p:spPr>
        <p:txBody>
          <a:bodyPr wrap="square" lIns="0" tIns="0" rIns="0" bIns="0" rtlCol="0" anchor="ctr"/>
          <a:lstStyle/>
          <a:p>
            <a:pPr marL="0" indent="0">
              <a:lnSpc>
                <a:spcPts val="1800"/>
              </a:lnSpc>
              <a:buNone/>
            </a:pPr>
            <a:r>
              <a:rPr lang="en-US" sz="1400" dirty="0">
                <a:solidFill>
                  <a:srgbClr val="44577A"/>
                </a:solidFill>
                <a:latin typeface="Calibri" pitchFamily="34" charset="0"/>
                <a:ea typeface="Calibri" pitchFamily="34" charset="-122"/>
                <a:cs typeface="Calibri" pitchFamily="34" charset="-120"/>
              </a:rPr>
              <a:t>Aus den vier Signalen die Position von 13 </a:t>
            </a:r>
            <a:r>
              <a:rPr lang="en-US" sz="1400" dirty="0" err="1">
                <a:solidFill>
                  <a:srgbClr val="44577A"/>
                </a:solidFill>
                <a:latin typeface="Calibri" pitchFamily="34" charset="0"/>
                <a:ea typeface="Calibri" pitchFamily="34" charset="-122"/>
                <a:cs typeface="Calibri" pitchFamily="34" charset="-120"/>
              </a:rPr>
              <a:t>Gelenken</a:t>
            </a:r>
            <a:r>
              <a:rPr lang="en-US" sz="1400" dirty="0">
                <a:solidFill>
                  <a:srgbClr val="44577A"/>
                </a:solidFill>
                <a:latin typeface="Calibri" pitchFamily="34" charset="0"/>
                <a:ea typeface="Calibri" pitchFamily="34" charset="-122"/>
                <a:cs typeface="Calibri" pitchFamily="34" charset="-120"/>
              </a:rPr>
              <a:t> </a:t>
            </a:r>
            <a:r>
              <a:rPr lang="en-US" sz="1400" dirty="0" err="1">
                <a:solidFill>
                  <a:srgbClr val="44577A"/>
                </a:solidFill>
                <a:latin typeface="Calibri" pitchFamily="34" charset="0"/>
                <a:ea typeface="Calibri" pitchFamily="34" charset="-122"/>
                <a:cs typeface="Calibri" pitchFamily="34" charset="-120"/>
              </a:rPr>
              <a:t>schätzen</a:t>
            </a:r>
            <a:r>
              <a:rPr lang="en-US" sz="1400" dirty="0">
                <a:solidFill>
                  <a:srgbClr val="44577A"/>
                </a:solidFill>
                <a:latin typeface="Calibri" pitchFamily="34" charset="0"/>
                <a:ea typeface="Calibri" pitchFamily="34" charset="-122"/>
                <a:cs typeface="Calibri" pitchFamily="34" charset="-120"/>
              </a:rPr>
              <a:t>, </a:t>
            </a:r>
            <a:r>
              <a:rPr lang="en-US" sz="1400" dirty="0" err="1">
                <a:solidFill>
                  <a:srgbClr val="44577A"/>
                </a:solidFill>
                <a:latin typeface="Calibri" pitchFamily="34" charset="0"/>
                <a:ea typeface="Calibri" pitchFamily="34" charset="-122"/>
                <a:cs typeface="Calibri" pitchFamily="34" charset="-120"/>
              </a:rPr>
              <a:t>beckenzentriert</a:t>
            </a:r>
            <a:r>
              <a:rPr lang="en-US" sz="1400" dirty="0">
                <a:solidFill>
                  <a:srgbClr val="44577A"/>
                </a:solidFill>
                <a:latin typeface="Calibri" pitchFamily="34" charset="0"/>
                <a:ea typeface="Calibri" pitchFamily="34" charset="-122"/>
                <a:cs typeface="Calibri" pitchFamily="34" charset="-120"/>
              </a:rPr>
              <a:t>, Frame für Frame.</a:t>
            </a:r>
            <a:endParaRPr lang="en-US" sz="1400" dirty="0"/>
          </a:p>
        </p:txBody>
      </p:sp>
      <p:sp>
        <p:nvSpPr>
          <p:cNvPr id="35" name="Text 33"/>
          <p:cNvSpPr/>
          <p:nvPr/>
        </p:nvSpPr>
        <p:spPr>
          <a:xfrm>
            <a:off x="6217920" y="4892040"/>
            <a:ext cx="1554480" cy="713232"/>
          </a:xfrm>
          <a:prstGeom prst="rect">
            <a:avLst/>
          </a:prstGeom>
          <a:noFill/>
          <a:ln/>
        </p:spPr>
        <p:txBody>
          <a:bodyPr wrap="square" lIns="0" tIns="0" rIns="0" bIns="0" rtlCol="0" anchor="ctr"/>
          <a:lstStyle/>
          <a:p>
            <a:pPr marL="0" indent="0" algn="ctr">
              <a:buNone/>
            </a:pPr>
            <a:r>
              <a:rPr lang="en-US" sz="4000" b="1" dirty="0">
                <a:solidFill>
                  <a:srgbClr val="2F6FE0"/>
                </a:solidFill>
                <a:latin typeface="Calibri" pitchFamily="34" charset="0"/>
                <a:ea typeface="Calibri" pitchFamily="34" charset="-122"/>
                <a:cs typeface="Calibri" pitchFamily="34" charset="-120"/>
              </a:rPr>
              <a:t>13</a:t>
            </a:r>
            <a:endParaRPr lang="en-US" sz="4000" dirty="0"/>
          </a:p>
        </p:txBody>
      </p:sp>
      <p:sp>
        <p:nvSpPr>
          <p:cNvPr id="36" name="Text 34"/>
          <p:cNvSpPr/>
          <p:nvPr/>
        </p:nvSpPr>
        <p:spPr>
          <a:xfrm>
            <a:off x="6217920" y="5586984"/>
            <a:ext cx="155448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Gelenke</a:t>
            </a:r>
            <a:endParaRPr lang="en-US" sz="1250" dirty="0"/>
          </a:p>
        </p:txBody>
      </p:sp>
      <p:sp>
        <p:nvSpPr>
          <p:cNvPr id="37" name="Text 35"/>
          <p:cNvSpPr/>
          <p:nvPr/>
        </p:nvSpPr>
        <p:spPr>
          <a:xfrm>
            <a:off x="7955280" y="4892040"/>
            <a:ext cx="1554480" cy="713232"/>
          </a:xfrm>
          <a:prstGeom prst="rect">
            <a:avLst/>
          </a:prstGeom>
          <a:noFill/>
          <a:ln/>
        </p:spPr>
        <p:txBody>
          <a:bodyPr wrap="square" lIns="0" tIns="0" rIns="0" bIns="0" rtlCol="0" anchor="ctr"/>
          <a:lstStyle/>
          <a:p>
            <a:pPr marL="0" indent="0" algn="ctr">
              <a:buNone/>
            </a:pPr>
            <a:r>
              <a:rPr lang="en-US" sz="4000" b="1" dirty="0">
                <a:solidFill>
                  <a:srgbClr val="0E8FA8"/>
                </a:solidFill>
                <a:latin typeface="Calibri" pitchFamily="34" charset="0"/>
                <a:ea typeface="Calibri" pitchFamily="34" charset="-122"/>
                <a:cs typeface="Calibri" pitchFamily="34" charset="-120"/>
              </a:rPr>
              <a:t>48</a:t>
            </a:r>
            <a:endParaRPr lang="en-US" sz="4000" dirty="0"/>
          </a:p>
        </p:txBody>
      </p:sp>
      <p:sp>
        <p:nvSpPr>
          <p:cNvPr id="38" name="Text 36"/>
          <p:cNvSpPr/>
          <p:nvPr/>
        </p:nvSpPr>
        <p:spPr>
          <a:xfrm>
            <a:off x="7955280" y="5586984"/>
            <a:ext cx="155448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Kanäle</a:t>
            </a:r>
            <a:endParaRPr lang="en-US" sz="1250" dirty="0"/>
          </a:p>
        </p:txBody>
      </p:sp>
      <p:sp>
        <p:nvSpPr>
          <p:cNvPr id="39" name="Text 37"/>
          <p:cNvSpPr/>
          <p:nvPr/>
        </p:nvSpPr>
        <p:spPr>
          <a:xfrm>
            <a:off x="9692640" y="4892040"/>
            <a:ext cx="1691640" cy="713232"/>
          </a:xfrm>
          <a:prstGeom prst="rect">
            <a:avLst/>
          </a:prstGeom>
          <a:noFill/>
          <a:ln/>
        </p:spPr>
        <p:txBody>
          <a:bodyPr wrap="square" lIns="0" tIns="0" rIns="0" bIns="0" rtlCol="0" anchor="ctr"/>
          <a:lstStyle/>
          <a:p>
            <a:pPr marL="0" indent="0" algn="ctr">
              <a:buNone/>
            </a:pPr>
            <a:r>
              <a:rPr lang="en-US" sz="4000" b="1" dirty="0">
                <a:solidFill>
                  <a:srgbClr val="D9661B"/>
                </a:solidFill>
                <a:latin typeface="Calibri" pitchFamily="34" charset="0"/>
                <a:ea typeface="Calibri" pitchFamily="34" charset="-122"/>
                <a:cs typeface="Calibri" pitchFamily="34" charset="-120"/>
              </a:rPr>
              <a:t>~1 h</a:t>
            </a:r>
            <a:endParaRPr lang="en-US" sz="4000" dirty="0"/>
          </a:p>
        </p:txBody>
      </p:sp>
      <p:sp>
        <p:nvSpPr>
          <p:cNvPr id="40" name="Text 38"/>
          <p:cNvSpPr/>
          <p:nvPr/>
        </p:nvSpPr>
        <p:spPr>
          <a:xfrm>
            <a:off x="9692640" y="5586984"/>
            <a:ext cx="169164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echte Daten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RANDBEDINGUNGEN</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Zwei Dinge, die den ganzen Entwurf bestimmen</a:t>
            </a:r>
            <a:endParaRPr lang="en-US" sz="3300" dirty="0"/>
          </a:p>
        </p:txBody>
      </p:sp>
      <p:sp>
        <p:nvSpPr>
          <p:cNvPr id="4" name="Shape 2"/>
          <p:cNvSpPr/>
          <p:nvPr/>
        </p:nvSpPr>
        <p:spPr>
          <a:xfrm>
            <a:off x="548640" y="1554480"/>
            <a:ext cx="5440680" cy="4526280"/>
          </a:xfrm>
          <a:prstGeom prst="roundRect">
            <a:avLst>
              <a:gd name="adj" fmla="val 2828"/>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Shape 3"/>
          <p:cNvSpPr/>
          <p:nvPr/>
        </p:nvSpPr>
        <p:spPr>
          <a:xfrm>
            <a:off x="868680" y="1847088"/>
            <a:ext cx="310896" cy="310896"/>
          </a:xfrm>
          <a:prstGeom prst="ellipse">
            <a:avLst/>
          </a:prstGeom>
          <a:solidFill>
            <a:srgbClr val="2F6FE0"/>
          </a:solidFill>
          <a:ln w="12700">
            <a:solidFill>
              <a:srgbClr val="2F6FE0"/>
            </a:solidFill>
            <a:prstDash val="solid"/>
          </a:ln>
        </p:spPr>
        <p:txBody>
          <a:bodyPr/>
          <a:lstStyle/>
          <a:p>
            <a:endParaRPr lang="en-DE"/>
          </a:p>
        </p:txBody>
      </p:sp>
      <p:sp>
        <p:nvSpPr>
          <p:cNvPr id="6" name="Text 4"/>
          <p:cNvSpPr/>
          <p:nvPr/>
        </p:nvSpPr>
        <p:spPr>
          <a:xfrm>
            <a:off x="868680" y="1888236"/>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25880" y="1828800"/>
            <a:ext cx="4480560" cy="347472"/>
          </a:xfrm>
          <a:prstGeom prst="rect">
            <a:avLst/>
          </a:prstGeom>
          <a:noFill/>
          <a:ln/>
        </p:spPr>
        <p:txBody>
          <a:bodyPr wrap="square" lIns="0" tIns="0" rIns="0" bIns="0" rtlCol="0" anchor="ctr"/>
          <a:lstStyle/>
          <a:p>
            <a:pPr marL="0" indent="0">
              <a:buNone/>
            </a:pPr>
            <a:r>
              <a:rPr lang="en-US" sz="1900" b="1" dirty="0">
                <a:solidFill>
                  <a:srgbClr val="0F1E38"/>
                </a:solidFill>
                <a:latin typeface="Calibri" pitchFamily="34" charset="0"/>
                <a:ea typeface="Calibri" pitchFamily="34" charset="-122"/>
                <a:cs typeface="Calibri" pitchFamily="34" charset="-120"/>
              </a:rPr>
              <a:t>Kein Magnetometer</a:t>
            </a:r>
            <a:endParaRPr lang="en-US" sz="1900" dirty="0"/>
          </a:p>
        </p:txBody>
      </p:sp>
      <p:sp>
        <p:nvSpPr>
          <p:cNvPr id="8" name="Text 6"/>
          <p:cNvSpPr/>
          <p:nvPr/>
        </p:nvSpPr>
        <p:spPr>
          <a:xfrm>
            <a:off x="868680" y="2331720"/>
            <a:ext cx="4800600" cy="960120"/>
          </a:xfrm>
          <a:prstGeom prst="rect">
            <a:avLst/>
          </a:prstGeom>
          <a:noFill/>
          <a:ln/>
        </p:spPr>
        <p:txBody>
          <a:bodyPr wrap="square" lIns="0" tIns="0" rIns="0" bIns="0" rtlCol="0" anchor="ctr"/>
          <a:lstStyle/>
          <a:p>
            <a:pPr marL="0" indent="0">
              <a:lnSpc>
                <a:spcPts val="1800"/>
              </a:lnSpc>
              <a:buNone/>
            </a:pPr>
            <a:r>
              <a:rPr lang="en-US" sz="1350" dirty="0">
                <a:solidFill>
                  <a:srgbClr val="44577A"/>
                </a:solidFill>
                <a:latin typeface="Calibri" pitchFamily="34" charset="0"/>
                <a:ea typeface="Calibri" pitchFamily="34" charset="-122"/>
                <a:cs typeface="Calibri" pitchFamily="34" charset="-120"/>
              </a:rPr>
              <a:t>Der AX6 misst nur Beschleunigung und Drehrate. Damit ist die Drehung um die Senkrechte nicht </a:t>
            </a:r>
            <a:r>
              <a:rPr lang="en-US" sz="1350" dirty="0" err="1">
                <a:solidFill>
                  <a:srgbClr val="44577A"/>
                </a:solidFill>
                <a:latin typeface="Calibri" pitchFamily="34" charset="0"/>
                <a:ea typeface="Calibri" pitchFamily="34" charset="-122"/>
                <a:cs typeface="Calibri" pitchFamily="34" charset="-120"/>
              </a:rPr>
              <a:t>beobachtbar</a:t>
            </a:r>
            <a:r>
              <a:rPr lang="en-US" sz="1350" dirty="0">
                <a:solidFill>
                  <a:srgbClr val="44577A"/>
                </a:solidFill>
                <a:latin typeface="Calibri" pitchFamily="34" charset="0"/>
                <a:ea typeface="Calibri" pitchFamily="34" charset="-122"/>
                <a:cs typeface="Calibri" pitchFamily="34" charset="-120"/>
              </a:rPr>
              <a:t>, </a:t>
            </a:r>
            <a:r>
              <a:rPr lang="en-US" sz="1350" dirty="0" err="1">
                <a:solidFill>
                  <a:srgbClr val="44577A"/>
                </a:solidFill>
                <a:latin typeface="Calibri" pitchFamily="34" charset="0"/>
                <a:ea typeface="Calibri" pitchFamily="34" charset="-122"/>
                <a:cs typeface="Calibri" pitchFamily="34" charset="-120"/>
              </a:rPr>
              <a:t>sie</a:t>
            </a:r>
            <a:r>
              <a:rPr lang="en-US" sz="1350" dirty="0">
                <a:solidFill>
                  <a:srgbClr val="44577A"/>
                </a:solidFill>
                <a:latin typeface="Calibri" pitchFamily="34" charset="0"/>
                <a:ea typeface="Calibri" pitchFamily="34" charset="-122"/>
                <a:cs typeface="Calibri" pitchFamily="34" charset="-120"/>
              </a:rPr>
              <a:t> läuft mit dem Gyro-Integral weg.</a:t>
            </a:r>
            <a:endParaRPr lang="en-US" sz="1350" dirty="0"/>
          </a:p>
        </p:txBody>
      </p:sp>
      <p:sp>
        <p:nvSpPr>
          <p:cNvPr id="9" name="Shape 7"/>
          <p:cNvSpPr/>
          <p:nvPr/>
        </p:nvSpPr>
        <p:spPr>
          <a:xfrm>
            <a:off x="868680" y="3401568"/>
            <a:ext cx="4800600" cy="1783080"/>
          </a:xfrm>
          <a:prstGeom prst="roundRect">
            <a:avLst>
              <a:gd name="adj" fmla="val 5128"/>
            </a:avLst>
          </a:prstGeom>
          <a:solidFill>
            <a:srgbClr val="E9F0FB"/>
          </a:solidFill>
          <a:ln/>
        </p:spPr>
        <p:txBody>
          <a:bodyPr/>
          <a:lstStyle/>
          <a:p>
            <a:endParaRPr lang="en-DE"/>
          </a:p>
        </p:txBody>
      </p:sp>
      <p:sp>
        <p:nvSpPr>
          <p:cNvPr id="10" name="Text 8"/>
          <p:cNvSpPr/>
          <p:nvPr/>
        </p:nvSpPr>
        <p:spPr>
          <a:xfrm>
            <a:off x="1097280" y="3520440"/>
            <a:ext cx="4389120" cy="274320"/>
          </a:xfrm>
          <a:prstGeom prst="rect">
            <a:avLst/>
          </a:prstGeom>
          <a:noFill/>
          <a:ln/>
        </p:spPr>
        <p:txBody>
          <a:bodyPr wrap="square" lIns="0" tIns="0" rIns="0" bIns="0" rtlCol="0" anchor="ctr"/>
          <a:lstStyle/>
          <a:p>
            <a:pPr marL="0" indent="0">
              <a:buNone/>
            </a:pPr>
            <a:r>
              <a:rPr lang="en-US" sz="1200" b="1" dirty="0">
                <a:solidFill>
                  <a:srgbClr val="2F6FE0"/>
                </a:solidFill>
                <a:latin typeface="Calibri" pitchFamily="34" charset="0"/>
                <a:ea typeface="Calibri" pitchFamily="34" charset="-122"/>
                <a:cs typeface="Calibri" pitchFamily="34" charset="-120"/>
              </a:rPr>
              <a:t>DIP · TransPose · PIP · IMUPoser</a:t>
            </a:r>
            <a:endParaRPr lang="en-US" sz="1200" dirty="0"/>
          </a:p>
        </p:txBody>
      </p:sp>
      <p:sp>
        <p:nvSpPr>
          <p:cNvPr id="11" name="Text 9"/>
          <p:cNvSpPr/>
          <p:nvPr/>
        </p:nvSpPr>
        <p:spPr>
          <a:xfrm>
            <a:off x="1097280" y="3822192"/>
            <a:ext cx="4389120" cy="1097280"/>
          </a:xfrm>
          <a:prstGeom prst="rect">
            <a:avLst/>
          </a:prstGeom>
          <a:noFill/>
          <a:ln/>
        </p:spPr>
        <p:txBody>
          <a:bodyPr wrap="square" lIns="0" tIns="0" rIns="0" bIns="0" rtlCol="0" anchor="ctr"/>
          <a:lstStyle/>
          <a:p>
            <a:pPr marL="0" indent="0">
              <a:lnSpc>
                <a:spcPts val="1700"/>
              </a:lnSpc>
              <a:buNone/>
            </a:pPr>
            <a:r>
              <a:rPr lang="en-US" sz="1300" dirty="0">
                <a:solidFill>
                  <a:srgbClr val="44577A"/>
                </a:solidFill>
                <a:latin typeface="Calibri" pitchFamily="34" charset="0"/>
                <a:ea typeface="Calibri" pitchFamily="34" charset="-122"/>
                <a:cs typeface="Calibri" pitchFamily="34" charset="-120"/>
              </a:rPr>
              <a:t>bekommen alle fertige Orientierungsmatrizen. Dahinter steckt immer ein Magnetometer. Diese Größe können wir nicht liefern.</a:t>
            </a:r>
            <a:endParaRPr lang="en-US" sz="1300" dirty="0"/>
          </a:p>
        </p:txBody>
      </p:sp>
      <p:sp>
        <p:nvSpPr>
          <p:cNvPr id="12" name="Text 10"/>
          <p:cNvSpPr/>
          <p:nvPr/>
        </p:nvSpPr>
        <p:spPr>
          <a:xfrm>
            <a:off x="868680" y="5349240"/>
            <a:ext cx="4800600" cy="548640"/>
          </a:xfrm>
          <a:prstGeom prst="rect">
            <a:avLst/>
          </a:prstGeom>
          <a:noFill/>
          <a:ln/>
        </p:spPr>
        <p:txBody>
          <a:bodyPr wrap="square" lIns="0" tIns="0" rIns="0" bIns="0" rtlCol="0" anchor="ctr"/>
          <a:lstStyle/>
          <a:p>
            <a:pPr marL="0" indent="0">
              <a:lnSpc>
                <a:spcPts val="1600"/>
              </a:lnSpc>
              <a:buNone/>
            </a:pPr>
            <a:r>
              <a:rPr lang="en-US" sz="1300" b="1" dirty="0">
                <a:solidFill>
                  <a:srgbClr val="D9661B"/>
                </a:solidFill>
                <a:latin typeface="Calibri" pitchFamily="34" charset="0"/>
                <a:ea typeface="Calibri" pitchFamily="34" charset="-122"/>
                <a:cs typeface="Calibri" pitchFamily="34" charset="-120"/>
              </a:rPr>
              <a:t>Konsequenz:  nur beobachtbare Größen als Eingang, Zielpose ohne Blickrichtung.</a:t>
            </a:r>
            <a:endParaRPr lang="en-US" sz="1300" dirty="0"/>
          </a:p>
        </p:txBody>
      </p:sp>
      <p:sp>
        <p:nvSpPr>
          <p:cNvPr id="13" name="Shape 11"/>
          <p:cNvSpPr/>
          <p:nvPr/>
        </p:nvSpPr>
        <p:spPr>
          <a:xfrm>
            <a:off x="6172200" y="1554480"/>
            <a:ext cx="5440680" cy="4526280"/>
          </a:xfrm>
          <a:prstGeom prst="roundRect">
            <a:avLst>
              <a:gd name="adj" fmla="val 2828"/>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4" name="Shape 12"/>
          <p:cNvSpPr/>
          <p:nvPr/>
        </p:nvSpPr>
        <p:spPr>
          <a:xfrm>
            <a:off x="6492240" y="1847088"/>
            <a:ext cx="310896" cy="310896"/>
          </a:xfrm>
          <a:prstGeom prst="ellipse">
            <a:avLst/>
          </a:prstGeom>
          <a:solidFill>
            <a:srgbClr val="0E8FA8"/>
          </a:solidFill>
          <a:ln w="12700">
            <a:solidFill>
              <a:srgbClr val="0E8FA8"/>
            </a:solidFill>
            <a:prstDash val="solid"/>
          </a:ln>
        </p:spPr>
        <p:txBody>
          <a:bodyPr/>
          <a:lstStyle/>
          <a:p>
            <a:endParaRPr lang="en-DE"/>
          </a:p>
        </p:txBody>
      </p:sp>
      <p:sp>
        <p:nvSpPr>
          <p:cNvPr id="15" name="Text 13"/>
          <p:cNvSpPr/>
          <p:nvPr/>
        </p:nvSpPr>
        <p:spPr>
          <a:xfrm>
            <a:off x="6492240" y="1888236"/>
            <a:ext cx="310896"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6949440" y="1828800"/>
            <a:ext cx="4480560" cy="347472"/>
          </a:xfrm>
          <a:prstGeom prst="rect">
            <a:avLst/>
          </a:prstGeom>
          <a:noFill/>
          <a:ln/>
        </p:spPr>
        <p:txBody>
          <a:bodyPr wrap="square" lIns="0" tIns="0" rIns="0" bIns="0" rtlCol="0" anchor="ctr"/>
          <a:lstStyle/>
          <a:p>
            <a:pPr marL="0" indent="0">
              <a:buNone/>
            </a:pPr>
            <a:r>
              <a:rPr lang="en-US" sz="1900" b="1" dirty="0">
                <a:solidFill>
                  <a:srgbClr val="0F1E38"/>
                </a:solidFill>
                <a:latin typeface="Calibri" pitchFamily="34" charset="0"/>
                <a:ea typeface="Calibri" pitchFamily="34" charset="-122"/>
                <a:cs typeface="Calibri" pitchFamily="34" charset="-120"/>
              </a:rPr>
              <a:t>Sechs Aufnahmen</a:t>
            </a:r>
            <a:endParaRPr lang="en-US" sz="1900" dirty="0"/>
          </a:p>
        </p:txBody>
      </p:sp>
      <p:sp>
        <p:nvSpPr>
          <p:cNvPr id="17" name="Text 15"/>
          <p:cNvSpPr/>
          <p:nvPr/>
        </p:nvSpPr>
        <p:spPr>
          <a:xfrm>
            <a:off x="6492240" y="2331720"/>
            <a:ext cx="4800600" cy="960120"/>
          </a:xfrm>
          <a:prstGeom prst="rect">
            <a:avLst/>
          </a:prstGeom>
          <a:noFill/>
          <a:ln/>
        </p:spPr>
        <p:txBody>
          <a:bodyPr wrap="square" lIns="0" tIns="0" rIns="0" bIns="0" rtlCol="0" anchor="ctr"/>
          <a:lstStyle/>
          <a:p>
            <a:pPr marL="0" indent="0">
              <a:lnSpc>
                <a:spcPts val="1800"/>
              </a:lnSpc>
              <a:buNone/>
            </a:pPr>
            <a:r>
              <a:rPr lang="en-US" sz="1350" dirty="0">
                <a:solidFill>
                  <a:srgbClr val="44577A"/>
                </a:solidFill>
                <a:latin typeface="Calibri" pitchFamily="34" charset="0"/>
                <a:ea typeface="Calibri" pitchFamily="34" charset="-122"/>
                <a:cs typeface="Calibri" pitchFamily="34" charset="-120"/>
              </a:rPr>
              <a:t>4,4 Millionen Parameter treffen auf rund 9 400 Trainingsfenster aus sechs Aufnahmen. Das Modell kann die sechs Videos auswendig lernen.</a:t>
            </a:r>
            <a:endParaRPr lang="en-US" sz="1350" dirty="0"/>
          </a:p>
        </p:txBody>
      </p:sp>
      <p:sp>
        <p:nvSpPr>
          <p:cNvPr id="18" name="Shape 16"/>
          <p:cNvSpPr/>
          <p:nvPr/>
        </p:nvSpPr>
        <p:spPr>
          <a:xfrm>
            <a:off x="6492240" y="3401568"/>
            <a:ext cx="4800600" cy="1783080"/>
          </a:xfrm>
          <a:prstGeom prst="roundRect">
            <a:avLst>
              <a:gd name="adj" fmla="val 5128"/>
            </a:avLst>
          </a:prstGeom>
          <a:solidFill>
            <a:srgbClr val="E9F0FB"/>
          </a:solidFill>
          <a:ln/>
        </p:spPr>
        <p:txBody>
          <a:bodyPr/>
          <a:lstStyle/>
          <a:p>
            <a:endParaRPr lang="en-DE"/>
          </a:p>
        </p:txBody>
      </p:sp>
      <p:sp>
        <p:nvSpPr>
          <p:cNvPr id="19" name="Text 17"/>
          <p:cNvSpPr/>
          <p:nvPr/>
        </p:nvSpPr>
        <p:spPr>
          <a:xfrm>
            <a:off x="6720840" y="3474720"/>
            <a:ext cx="1828800" cy="502920"/>
          </a:xfrm>
          <a:prstGeom prst="rect">
            <a:avLst/>
          </a:prstGeom>
          <a:noFill/>
          <a:ln/>
        </p:spPr>
        <p:txBody>
          <a:bodyPr wrap="square" lIns="0" tIns="0" rIns="0" bIns="0" rtlCol="0" anchor="ctr"/>
          <a:lstStyle/>
          <a:p>
            <a:pPr marL="0" indent="0">
              <a:buNone/>
            </a:pPr>
            <a:r>
              <a:rPr lang="en-US" sz="2600" b="1" dirty="0">
                <a:solidFill>
                  <a:srgbClr val="0E8FA8"/>
                </a:solidFill>
                <a:latin typeface="Calibri" pitchFamily="34" charset="0"/>
                <a:ea typeface="Calibri" pitchFamily="34" charset="-122"/>
                <a:cs typeface="Calibri" pitchFamily="34" charset="-120"/>
              </a:rPr>
              <a:t>471 : 1</a:t>
            </a:r>
            <a:endParaRPr lang="en-US" sz="2600" dirty="0"/>
          </a:p>
        </p:txBody>
      </p:sp>
      <p:sp>
        <p:nvSpPr>
          <p:cNvPr id="20" name="Text 18"/>
          <p:cNvSpPr/>
          <p:nvPr/>
        </p:nvSpPr>
        <p:spPr>
          <a:xfrm>
            <a:off x="6720840" y="4005072"/>
            <a:ext cx="4297680" cy="914400"/>
          </a:xfrm>
          <a:prstGeom prst="rect">
            <a:avLst/>
          </a:prstGeom>
          <a:noFill/>
          <a:ln/>
        </p:spPr>
        <p:txBody>
          <a:bodyPr wrap="square" lIns="0" tIns="0" rIns="0" bIns="0" rtlCol="0" anchor="ctr"/>
          <a:lstStyle/>
          <a:p>
            <a:pPr marL="0" indent="0">
              <a:lnSpc>
                <a:spcPts val="1700"/>
              </a:lnSpc>
              <a:buNone/>
            </a:pPr>
            <a:r>
              <a:rPr lang="en-US" sz="1300" dirty="0">
                <a:solidFill>
                  <a:srgbClr val="44577A"/>
                </a:solidFill>
                <a:latin typeface="Calibri" pitchFamily="34" charset="0"/>
                <a:ea typeface="Calibri" pitchFamily="34" charset="-122"/>
                <a:cs typeface="Calibri" pitchFamily="34" charset="-120"/>
              </a:rPr>
              <a:t>Parameter je Trainingsfenster. Über 100:1 kann ein Netz auswendig lernen statt zu verallgemeinern.</a:t>
            </a:r>
            <a:endParaRPr lang="en-US" sz="1300" dirty="0"/>
          </a:p>
        </p:txBody>
      </p:sp>
      <p:sp>
        <p:nvSpPr>
          <p:cNvPr id="21" name="Text 19"/>
          <p:cNvSpPr/>
          <p:nvPr/>
        </p:nvSpPr>
        <p:spPr>
          <a:xfrm>
            <a:off x="6492240" y="5349240"/>
            <a:ext cx="4800600" cy="548640"/>
          </a:xfrm>
          <a:prstGeom prst="rect">
            <a:avLst/>
          </a:prstGeom>
          <a:noFill/>
          <a:ln/>
        </p:spPr>
        <p:txBody>
          <a:bodyPr wrap="square" lIns="0" tIns="0" rIns="0" bIns="0" rtlCol="0" anchor="ctr"/>
          <a:lstStyle/>
          <a:p>
            <a:pPr marL="0" indent="0">
              <a:lnSpc>
                <a:spcPts val="1600"/>
              </a:lnSpc>
              <a:buNone/>
            </a:pPr>
            <a:r>
              <a:rPr lang="en-US" sz="1300" b="1" dirty="0">
                <a:solidFill>
                  <a:srgbClr val="D9661B"/>
                </a:solidFill>
                <a:latin typeface="Calibri" pitchFamily="34" charset="0"/>
                <a:ea typeface="Calibri" pitchFamily="34" charset="-122"/>
                <a:cs typeface="Calibri" pitchFamily="34" charset="-120"/>
              </a:rPr>
              <a:t>Konsequenz:  synthetische Daten aus AMASS zum Vortrainieren.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AUFBAU</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Von der Rohmessung zur Pose</a:t>
            </a:r>
            <a:endParaRPr lang="en-US" sz="3300" dirty="0"/>
          </a:p>
        </p:txBody>
      </p:sp>
      <p:sp>
        <p:nvSpPr>
          <p:cNvPr id="4" name="Shape 2"/>
          <p:cNvSpPr/>
          <p:nvPr/>
        </p:nvSpPr>
        <p:spPr>
          <a:xfrm>
            <a:off x="603504" y="1737360"/>
            <a:ext cx="1700784" cy="2743200"/>
          </a:xfrm>
          <a:prstGeom prst="roundRect">
            <a:avLst>
              <a:gd name="adj" fmla="val 752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Shape 3"/>
          <p:cNvSpPr/>
          <p:nvPr/>
        </p:nvSpPr>
        <p:spPr>
          <a:xfrm>
            <a:off x="1280160" y="1975104"/>
            <a:ext cx="347472" cy="347472"/>
          </a:xfrm>
          <a:prstGeom prst="ellipse">
            <a:avLst/>
          </a:prstGeom>
          <a:solidFill>
            <a:srgbClr val="2F6FE0"/>
          </a:solidFill>
          <a:ln/>
        </p:spPr>
        <p:txBody>
          <a:bodyPr/>
          <a:lstStyle/>
          <a:p>
            <a:endParaRPr lang="en-DE"/>
          </a:p>
        </p:txBody>
      </p:sp>
      <p:sp>
        <p:nvSpPr>
          <p:cNvPr id="6" name="Text 4"/>
          <p:cNvSpPr/>
          <p:nvPr/>
        </p:nvSpPr>
        <p:spPr>
          <a:xfrm>
            <a:off x="1280160" y="2016252"/>
            <a:ext cx="34747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94944" y="2450592"/>
            <a:ext cx="1517904" cy="365760"/>
          </a:xfrm>
          <a:prstGeom prst="rect">
            <a:avLst/>
          </a:prstGeom>
          <a:noFill/>
          <a:ln/>
        </p:spPr>
        <p:txBody>
          <a:bodyPr wrap="square" lIns="0" tIns="0" rIns="0" bIns="0" rtlCol="0" anchor="ctr"/>
          <a:lstStyle/>
          <a:p>
            <a:pPr marL="0" indent="0" algn="ctr">
              <a:buNone/>
            </a:pPr>
            <a:r>
              <a:rPr lang="en-US" sz="1400" b="1" dirty="0">
                <a:solidFill>
                  <a:srgbClr val="0F1E38"/>
                </a:solidFill>
                <a:latin typeface="Calibri" pitchFamily="34" charset="0"/>
                <a:ea typeface="Calibri" pitchFamily="34" charset="-122"/>
                <a:cs typeface="Calibri" pitchFamily="34" charset="-120"/>
              </a:rPr>
              <a:t>Rohsignal</a:t>
            </a:r>
            <a:endParaRPr lang="en-US" sz="1400" dirty="0"/>
          </a:p>
        </p:txBody>
      </p:sp>
      <p:sp>
        <p:nvSpPr>
          <p:cNvPr id="8" name="Text 6"/>
          <p:cNvSpPr/>
          <p:nvPr/>
        </p:nvSpPr>
        <p:spPr>
          <a:xfrm>
            <a:off x="694944" y="2926080"/>
            <a:ext cx="1517904" cy="1280160"/>
          </a:xfrm>
          <a:prstGeom prst="rect">
            <a:avLst/>
          </a:prstGeom>
          <a:noFill/>
          <a:ln/>
        </p:spPr>
        <p:txBody>
          <a:bodyPr wrap="square" lIns="0" tIns="0" rIns="0" bIns="0" rtlCol="0" anchor="ctr"/>
          <a:lstStyle/>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AX6, 200 Hz</a:t>
            </a:r>
            <a:endParaRPr lang="en-US" sz="1150" dirty="0"/>
          </a:p>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acc + gyro</a:t>
            </a:r>
            <a:endParaRPr lang="en-US" sz="1150" dirty="0"/>
          </a:p>
        </p:txBody>
      </p:sp>
      <p:sp>
        <p:nvSpPr>
          <p:cNvPr id="9" name="Shape 7"/>
          <p:cNvSpPr/>
          <p:nvPr/>
        </p:nvSpPr>
        <p:spPr>
          <a:xfrm>
            <a:off x="2331720" y="2148840"/>
            <a:ext cx="118872" cy="0"/>
          </a:xfrm>
          <a:prstGeom prst="line">
            <a:avLst/>
          </a:prstGeom>
          <a:noFill/>
          <a:ln w="22225">
            <a:solidFill>
              <a:srgbClr val="B7C7DE"/>
            </a:solidFill>
            <a:prstDash val="solid"/>
            <a:tailEnd type="triangle"/>
          </a:ln>
        </p:spPr>
        <p:txBody>
          <a:bodyPr/>
          <a:lstStyle/>
          <a:p>
            <a:endParaRPr lang="en-DE"/>
          </a:p>
        </p:txBody>
      </p:sp>
      <p:sp>
        <p:nvSpPr>
          <p:cNvPr id="10" name="Shape 8"/>
          <p:cNvSpPr/>
          <p:nvPr/>
        </p:nvSpPr>
        <p:spPr>
          <a:xfrm>
            <a:off x="2478024" y="1737360"/>
            <a:ext cx="1700784" cy="2743200"/>
          </a:xfrm>
          <a:prstGeom prst="roundRect">
            <a:avLst>
              <a:gd name="adj" fmla="val 752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1" name="Shape 9"/>
          <p:cNvSpPr/>
          <p:nvPr/>
        </p:nvSpPr>
        <p:spPr>
          <a:xfrm>
            <a:off x="3154680" y="1975104"/>
            <a:ext cx="347472" cy="347472"/>
          </a:xfrm>
          <a:prstGeom prst="ellipse">
            <a:avLst/>
          </a:prstGeom>
          <a:solidFill>
            <a:srgbClr val="2F6FE0"/>
          </a:solidFill>
          <a:ln/>
        </p:spPr>
        <p:txBody>
          <a:bodyPr/>
          <a:lstStyle/>
          <a:p>
            <a:endParaRPr lang="en-DE"/>
          </a:p>
        </p:txBody>
      </p:sp>
      <p:sp>
        <p:nvSpPr>
          <p:cNvPr id="12" name="Text 10"/>
          <p:cNvSpPr/>
          <p:nvPr/>
        </p:nvSpPr>
        <p:spPr>
          <a:xfrm>
            <a:off x="3154680" y="2016252"/>
            <a:ext cx="34747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569464" y="2450592"/>
            <a:ext cx="1517904" cy="365760"/>
          </a:xfrm>
          <a:prstGeom prst="rect">
            <a:avLst/>
          </a:prstGeom>
          <a:noFill/>
          <a:ln/>
        </p:spPr>
        <p:txBody>
          <a:bodyPr wrap="square" lIns="0" tIns="0" rIns="0" bIns="0" rtlCol="0" anchor="ctr"/>
          <a:lstStyle/>
          <a:p>
            <a:pPr marL="0" indent="0" algn="ctr">
              <a:buNone/>
            </a:pPr>
            <a:r>
              <a:rPr lang="en-US" sz="1400" b="1" dirty="0">
                <a:solidFill>
                  <a:srgbClr val="0F1E38"/>
                </a:solidFill>
                <a:latin typeface="Calibri" pitchFamily="34" charset="0"/>
                <a:ea typeface="Calibri" pitchFamily="34" charset="-122"/>
                <a:cs typeface="Calibri" pitchFamily="34" charset="-120"/>
              </a:rPr>
              <a:t>Synchronisation</a:t>
            </a:r>
            <a:endParaRPr lang="en-US" sz="1400" dirty="0"/>
          </a:p>
        </p:txBody>
      </p:sp>
      <p:sp>
        <p:nvSpPr>
          <p:cNvPr id="14" name="Text 12"/>
          <p:cNvSpPr/>
          <p:nvPr/>
        </p:nvSpPr>
        <p:spPr>
          <a:xfrm>
            <a:off x="2569464" y="2926080"/>
            <a:ext cx="1517904" cy="1280160"/>
          </a:xfrm>
          <a:prstGeom prst="rect">
            <a:avLst/>
          </a:prstGeom>
          <a:noFill/>
          <a:ln/>
        </p:spPr>
        <p:txBody>
          <a:bodyPr wrap="square" lIns="0" tIns="0" rIns="0" bIns="0" rtlCol="0" anchor="ctr"/>
          <a:lstStyle/>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Sprungmuster</a:t>
            </a:r>
            <a:endParaRPr lang="en-US" sz="1150" dirty="0"/>
          </a:p>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video ↔ Sensor</a:t>
            </a:r>
            <a:endParaRPr lang="en-US" sz="1150" dirty="0"/>
          </a:p>
        </p:txBody>
      </p:sp>
      <p:sp>
        <p:nvSpPr>
          <p:cNvPr id="15" name="Shape 13"/>
          <p:cNvSpPr/>
          <p:nvPr/>
        </p:nvSpPr>
        <p:spPr>
          <a:xfrm>
            <a:off x="4206240" y="2148840"/>
            <a:ext cx="118872" cy="0"/>
          </a:xfrm>
          <a:prstGeom prst="line">
            <a:avLst/>
          </a:prstGeom>
          <a:noFill/>
          <a:ln w="22225">
            <a:solidFill>
              <a:srgbClr val="B7C7DE"/>
            </a:solidFill>
            <a:prstDash val="solid"/>
            <a:tailEnd type="triangle"/>
          </a:ln>
        </p:spPr>
        <p:txBody>
          <a:bodyPr/>
          <a:lstStyle/>
          <a:p>
            <a:endParaRPr lang="en-DE"/>
          </a:p>
        </p:txBody>
      </p:sp>
      <p:sp>
        <p:nvSpPr>
          <p:cNvPr id="16" name="Shape 14"/>
          <p:cNvSpPr/>
          <p:nvPr/>
        </p:nvSpPr>
        <p:spPr>
          <a:xfrm>
            <a:off x="4352544" y="1737360"/>
            <a:ext cx="1700784" cy="2743200"/>
          </a:xfrm>
          <a:prstGeom prst="roundRect">
            <a:avLst>
              <a:gd name="adj" fmla="val 752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7" name="Shape 15"/>
          <p:cNvSpPr/>
          <p:nvPr/>
        </p:nvSpPr>
        <p:spPr>
          <a:xfrm>
            <a:off x="5029200" y="1975104"/>
            <a:ext cx="347472" cy="347472"/>
          </a:xfrm>
          <a:prstGeom prst="ellipse">
            <a:avLst/>
          </a:prstGeom>
          <a:solidFill>
            <a:srgbClr val="0E8FA8"/>
          </a:solidFill>
          <a:ln/>
        </p:spPr>
        <p:txBody>
          <a:bodyPr/>
          <a:lstStyle/>
          <a:p>
            <a:endParaRPr lang="en-DE"/>
          </a:p>
        </p:txBody>
      </p:sp>
      <p:sp>
        <p:nvSpPr>
          <p:cNvPr id="18" name="Text 16"/>
          <p:cNvSpPr/>
          <p:nvPr/>
        </p:nvSpPr>
        <p:spPr>
          <a:xfrm>
            <a:off x="5029200" y="2016252"/>
            <a:ext cx="34747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4443984" y="2450592"/>
            <a:ext cx="1517904" cy="365760"/>
          </a:xfrm>
          <a:prstGeom prst="rect">
            <a:avLst/>
          </a:prstGeom>
          <a:noFill/>
          <a:ln/>
        </p:spPr>
        <p:txBody>
          <a:bodyPr wrap="square" lIns="0" tIns="0" rIns="0" bIns="0" rtlCol="0" anchor="ctr"/>
          <a:lstStyle/>
          <a:p>
            <a:pPr marL="0" indent="0" algn="ctr">
              <a:buNone/>
            </a:pPr>
            <a:r>
              <a:rPr lang="en-US" sz="1400" b="1" dirty="0">
                <a:solidFill>
                  <a:srgbClr val="0F1E38"/>
                </a:solidFill>
                <a:latin typeface="Calibri" pitchFamily="34" charset="0"/>
                <a:ea typeface="Calibri" pitchFamily="34" charset="-122"/>
                <a:cs typeface="Calibri" pitchFamily="34" charset="-120"/>
              </a:rPr>
              <a:t>Segmentsystem</a:t>
            </a:r>
            <a:endParaRPr lang="en-US" sz="1400" dirty="0"/>
          </a:p>
        </p:txBody>
      </p:sp>
      <p:sp>
        <p:nvSpPr>
          <p:cNvPr id="20" name="Text 18"/>
          <p:cNvSpPr/>
          <p:nvPr/>
        </p:nvSpPr>
        <p:spPr>
          <a:xfrm>
            <a:off x="4443984" y="2926080"/>
            <a:ext cx="1517904" cy="1280160"/>
          </a:xfrm>
          <a:prstGeom prst="rect">
            <a:avLst/>
          </a:prstGeom>
          <a:noFill/>
          <a:ln/>
        </p:spPr>
        <p:txBody>
          <a:bodyPr wrap="square" lIns="0" tIns="0" rIns="0" bIns="0" rtlCol="0" anchor="ctr"/>
          <a:lstStyle/>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Montage rechnerisch</a:t>
            </a:r>
            <a:endParaRPr lang="en-US" sz="1150" dirty="0"/>
          </a:p>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herausgedreht</a:t>
            </a:r>
            <a:endParaRPr lang="en-US" sz="1150" dirty="0"/>
          </a:p>
        </p:txBody>
      </p:sp>
      <p:sp>
        <p:nvSpPr>
          <p:cNvPr id="21" name="Shape 19"/>
          <p:cNvSpPr/>
          <p:nvPr/>
        </p:nvSpPr>
        <p:spPr>
          <a:xfrm>
            <a:off x="6080760" y="2148840"/>
            <a:ext cx="118872" cy="0"/>
          </a:xfrm>
          <a:prstGeom prst="line">
            <a:avLst/>
          </a:prstGeom>
          <a:noFill/>
          <a:ln w="22225">
            <a:solidFill>
              <a:srgbClr val="B7C7DE"/>
            </a:solidFill>
            <a:prstDash val="solid"/>
            <a:tailEnd type="triangle"/>
          </a:ln>
        </p:spPr>
        <p:txBody>
          <a:bodyPr/>
          <a:lstStyle/>
          <a:p>
            <a:endParaRPr lang="en-DE"/>
          </a:p>
        </p:txBody>
      </p:sp>
      <p:sp>
        <p:nvSpPr>
          <p:cNvPr id="22" name="Shape 20"/>
          <p:cNvSpPr/>
          <p:nvPr/>
        </p:nvSpPr>
        <p:spPr>
          <a:xfrm>
            <a:off x="6227064" y="1737360"/>
            <a:ext cx="1700784" cy="2743200"/>
          </a:xfrm>
          <a:prstGeom prst="roundRect">
            <a:avLst>
              <a:gd name="adj" fmla="val 752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23" name="Shape 21"/>
          <p:cNvSpPr/>
          <p:nvPr/>
        </p:nvSpPr>
        <p:spPr>
          <a:xfrm>
            <a:off x="6903720" y="1975104"/>
            <a:ext cx="347472" cy="347472"/>
          </a:xfrm>
          <a:prstGeom prst="ellipse">
            <a:avLst/>
          </a:prstGeom>
          <a:solidFill>
            <a:srgbClr val="0E8FA8"/>
          </a:solidFill>
          <a:ln/>
        </p:spPr>
        <p:txBody>
          <a:bodyPr/>
          <a:lstStyle/>
          <a:p>
            <a:endParaRPr lang="en-DE"/>
          </a:p>
        </p:txBody>
      </p:sp>
      <p:sp>
        <p:nvSpPr>
          <p:cNvPr id="24" name="Text 22"/>
          <p:cNvSpPr/>
          <p:nvPr/>
        </p:nvSpPr>
        <p:spPr>
          <a:xfrm>
            <a:off x="6903720" y="2016252"/>
            <a:ext cx="34747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6318504" y="2450592"/>
            <a:ext cx="1517904" cy="365760"/>
          </a:xfrm>
          <a:prstGeom prst="rect">
            <a:avLst/>
          </a:prstGeom>
          <a:noFill/>
          <a:ln/>
        </p:spPr>
        <p:txBody>
          <a:bodyPr wrap="square" lIns="0" tIns="0" rIns="0" bIns="0" rtlCol="0" anchor="ctr"/>
          <a:lstStyle/>
          <a:p>
            <a:pPr marL="0" indent="0" algn="ctr">
              <a:buNone/>
            </a:pPr>
            <a:r>
              <a:rPr lang="en-US" sz="1400" b="1" dirty="0">
                <a:solidFill>
                  <a:srgbClr val="0F1E38"/>
                </a:solidFill>
                <a:latin typeface="Calibri" pitchFamily="34" charset="0"/>
                <a:ea typeface="Calibri" pitchFamily="34" charset="-122"/>
                <a:cs typeface="Calibri" pitchFamily="34" charset="-120"/>
              </a:rPr>
              <a:t>Merkmale</a:t>
            </a:r>
            <a:endParaRPr lang="en-US" sz="1400" dirty="0"/>
          </a:p>
        </p:txBody>
      </p:sp>
      <p:sp>
        <p:nvSpPr>
          <p:cNvPr id="26" name="Text 24"/>
          <p:cNvSpPr/>
          <p:nvPr/>
        </p:nvSpPr>
        <p:spPr>
          <a:xfrm>
            <a:off x="6318504" y="2926080"/>
            <a:ext cx="1517904" cy="1280160"/>
          </a:xfrm>
          <a:prstGeom prst="rect">
            <a:avLst/>
          </a:prstGeom>
          <a:noFill/>
          <a:ln/>
        </p:spPr>
        <p:txBody>
          <a:bodyPr wrap="square" lIns="0" tIns="0" rIns="0" bIns="0" rtlCol="0" anchor="ctr"/>
          <a:lstStyle/>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12 Kanäle je Sensor</a:t>
            </a:r>
            <a:endParaRPr lang="en-US" sz="1150" dirty="0"/>
          </a:p>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bei 50 Hz</a:t>
            </a:r>
            <a:endParaRPr lang="en-US" sz="1150" dirty="0"/>
          </a:p>
        </p:txBody>
      </p:sp>
      <p:sp>
        <p:nvSpPr>
          <p:cNvPr id="27" name="Shape 25"/>
          <p:cNvSpPr/>
          <p:nvPr/>
        </p:nvSpPr>
        <p:spPr>
          <a:xfrm>
            <a:off x="7955280" y="2148840"/>
            <a:ext cx="118872" cy="0"/>
          </a:xfrm>
          <a:prstGeom prst="line">
            <a:avLst/>
          </a:prstGeom>
          <a:noFill/>
          <a:ln w="22225">
            <a:solidFill>
              <a:srgbClr val="B7C7DE"/>
            </a:solidFill>
            <a:prstDash val="solid"/>
            <a:tailEnd type="triangle"/>
          </a:ln>
        </p:spPr>
        <p:txBody>
          <a:bodyPr/>
          <a:lstStyle/>
          <a:p>
            <a:endParaRPr lang="en-DE"/>
          </a:p>
        </p:txBody>
      </p:sp>
      <p:sp>
        <p:nvSpPr>
          <p:cNvPr id="28" name="Shape 26"/>
          <p:cNvSpPr/>
          <p:nvPr/>
        </p:nvSpPr>
        <p:spPr>
          <a:xfrm>
            <a:off x="8101584" y="1737360"/>
            <a:ext cx="1700784" cy="2743200"/>
          </a:xfrm>
          <a:prstGeom prst="roundRect">
            <a:avLst>
              <a:gd name="adj" fmla="val 752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29" name="Shape 27"/>
          <p:cNvSpPr/>
          <p:nvPr/>
        </p:nvSpPr>
        <p:spPr>
          <a:xfrm>
            <a:off x="8778240" y="1975104"/>
            <a:ext cx="347472" cy="347472"/>
          </a:xfrm>
          <a:prstGeom prst="ellipse">
            <a:avLst/>
          </a:prstGeom>
          <a:solidFill>
            <a:srgbClr val="D9661B"/>
          </a:solidFill>
          <a:ln/>
        </p:spPr>
        <p:txBody>
          <a:bodyPr/>
          <a:lstStyle/>
          <a:p>
            <a:endParaRPr lang="en-DE"/>
          </a:p>
        </p:txBody>
      </p:sp>
      <p:sp>
        <p:nvSpPr>
          <p:cNvPr id="30" name="Text 28"/>
          <p:cNvSpPr/>
          <p:nvPr/>
        </p:nvSpPr>
        <p:spPr>
          <a:xfrm>
            <a:off x="8778240" y="2016252"/>
            <a:ext cx="34747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8193024" y="2450592"/>
            <a:ext cx="1517904" cy="365760"/>
          </a:xfrm>
          <a:prstGeom prst="rect">
            <a:avLst/>
          </a:prstGeom>
          <a:noFill/>
          <a:ln/>
        </p:spPr>
        <p:txBody>
          <a:bodyPr wrap="square" lIns="0" tIns="0" rIns="0" bIns="0" rtlCol="0" anchor="ctr"/>
          <a:lstStyle/>
          <a:p>
            <a:pPr marL="0" indent="0" algn="ctr">
              <a:buNone/>
            </a:pPr>
            <a:r>
              <a:rPr lang="en-US" sz="1400" b="1" dirty="0">
                <a:solidFill>
                  <a:srgbClr val="0F1E38"/>
                </a:solidFill>
                <a:latin typeface="Calibri" pitchFamily="34" charset="0"/>
                <a:ea typeface="Calibri" pitchFamily="34" charset="-122"/>
                <a:cs typeface="Calibri" pitchFamily="34" charset="-120"/>
              </a:rPr>
              <a:t>Netz</a:t>
            </a:r>
            <a:endParaRPr lang="en-US" sz="1400" dirty="0"/>
          </a:p>
        </p:txBody>
      </p:sp>
      <p:sp>
        <p:nvSpPr>
          <p:cNvPr id="32" name="Text 30"/>
          <p:cNvSpPr/>
          <p:nvPr/>
        </p:nvSpPr>
        <p:spPr>
          <a:xfrm>
            <a:off x="8193024" y="2926080"/>
            <a:ext cx="1517904" cy="1280160"/>
          </a:xfrm>
          <a:prstGeom prst="rect">
            <a:avLst/>
          </a:prstGeom>
          <a:noFill/>
          <a:ln/>
        </p:spPr>
        <p:txBody>
          <a:bodyPr wrap="square" lIns="0" tIns="0" rIns="0" bIns="0" rtlCol="0" anchor="ctr"/>
          <a:lstStyle/>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Conv + BiLSTM</a:t>
            </a:r>
            <a:endParaRPr lang="en-US" sz="1150" dirty="0"/>
          </a:p>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zwei Stufen</a:t>
            </a:r>
            <a:endParaRPr lang="en-US" sz="1150" dirty="0"/>
          </a:p>
        </p:txBody>
      </p:sp>
      <p:sp>
        <p:nvSpPr>
          <p:cNvPr id="33" name="Shape 31"/>
          <p:cNvSpPr/>
          <p:nvPr/>
        </p:nvSpPr>
        <p:spPr>
          <a:xfrm>
            <a:off x="9829800" y="2148840"/>
            <a:ext cx="118872" cy="0"/>
          </a:xfrm>
          <a:prstGeom prst="line">
            <a:avLst/>
          </a:prstGeom>
          <a:noFill/>
          <a:ln w="22225">
            <a:solidFill>
              <a:srgbClr val="B7C7DE"/>
            </a:solidFill>
            <a:prstDash val="solid"/>
            <a:tailEnd type="triangle"/>
          </a:ln>
        </p:spPr>
        <p:txBody>
          <a:bodyPr/>
          <a:lstStyle/>
          <a:p>
            <a:endParaRPr lang="en-DE"/>
          </a:p>
        </p:txBody>
      </p:sp>
      <p:sp>
        <p:nvSpPr>
          <p:cNvPr id="34" name="Shape 32"/>
          <p:cNvSpPr/>
          <p:nvPr/>
        </p:nvSpPr>
        <p:spPr>
          <a:xfrm>
            <a:off x="9976104" y="1737360"/>
            <a:ext cx="1700784" cy="2743200"/>
          </a:xfrm>
          <a:prstGeom prst="roundRect">
            <a:avLst>
              <a:gd name="adj" fmla="val 7527"/>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35" name="Shape 33"/>
          <p:cNvSpPr/>
          <p:nvPr/>
        </p:nvSpPr>
        <p:spPr>
          <a:xfrm>
            <a:off x="10652760" y="1975104"/>
            <a:ext cx="347472" cy="347472"/>
          </a:xfrm>
          <a:prstGeom prst="ellipse">
            <a:avLst/>
          </a:prstGeom>
          <a:solidFill>
            <a:srgbClr val="0F9E76"/>
          </a:solidFill>
          <a:ln/>
        </p:spPr>
        <p:txBody>
          <a:bodyPr/>
          <a:lstStyle/>
          <a:p>
            <a:endParaRPr lang="en-DE"/>
          </a:p>
        </p:txBody>
      </p:sp>
      <p:sp>
        <p:nvSpPr>
          <p:cNvPr id="36" name="Text 34"/>
          <p:cNvSpPr/>
          <p:nvPr/>
        </p:nvSpPr>
        <p:spPr>
          <a:xfrm>
            <a:off x="10652760" y="2016252"/>
            <a:ext cx="347472" cy="25603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0067544" y="2450592"/>
            <a:ext cx="1517904" cy="365760"/>
          </a:xfrm>
          <a:prstGeom prst="rect">
            <a:avLst/>
          </a:prstGeom>
          <a:noFill/>
          <a:ln/>
        </p:spPr>
        <p:txBody>
          <a:bodyPr wrap="square" lIns="0" tIns="0" rIns="0" bIns="0" rtlCol="0" anchor="ctr"/>
          <a:lstStyle/>
          <a:p>
            <a:pPr marL="0" indent="0" algn="ctr">
              <a:buNone/>
            </a:pPr>
            <a:r>
              <a:rPr lang="en-US" sz="1400" b="1" dirty="0">
                <a:solidFill>
                  <a:srgbClr val="0F1E38"/>
                </a:solidFill>
                <a:latin typeface="Calibri" pitchFamily="34" charset="0"/>
                <a:ea typeface="Calibri" pitchFamily="34" charset="-122"/>
                <a:cs typeface="Calibri" pitchFamily="34" charset="-120"/>
              </a:rPr>
              <a:t>Pose</a:t>
            </a:r>
            <a:endParaRPr lang="en-US" sz="1400" dirty="0"/>
          </a:p>
        </p:txBody>
      </p:sp>
      <p:sp>
        <p:nvSpPr>
          <p:cNvPr id="38" name="Text 36"/>
          <p:cNvSpPr/>
          <p:nvPr/>
        </p:nvSpPr>
        <p:spPr>
          <a:xfrm>
            <a:off x="10067544" y="2926080"/>
            <a:ext cx="1517904" cy="1280160"/>
          </a:xfrm>
          <a:prstGeom prst="rect">
            <a:avLst/>
          </a:prstGeom>
          <a:noFill/>
          <a:ln/>
        </p:spPr>
        <p:txBody>
          <a:bodyPr wrap="square" lIns="0" tIns="0" rIns="0" bIns="0" rtlCol="0" anchor="ctr"/>
          <a:lstStyle/>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12 Knochenrichtungen</a:t>
            </a:r>
            <a:endParaRPr lang="en-US" sz="1150" dirty="0"/>
          </a:p>
          <a:p>
            <a:pPr marL="0" indent="0" algn="ctr">
              <a:lnSpc>
                <a:spcPts val="1500"/>
              </a:lnSpc>
              <a:buNone/>
            </a:pPr>
            <a:r>
              <a:rPr lang="en-US" sz="1150" dirty="0">
                <a:solidFill>
                  <a:srgbClr val="44577A"/>
                </a:solidFill>
                <a:latin typeface="Calibri" pitchFamily="34" charset="0"/>
                <a:ea typeface="Calibri" pitchFamily="34" charset="-122"/>
                <a:cs typeface="Calibri" pitchFamily="34" charset="-120"/>
              </a:rPr>
              <a:t>→ 13 Gelenke</a:t>
            </a:r>
            <a:endParaRPr lang="en-US" sz="1150" dirty="0"/>
          </a:p>
        </p:txBody>
      </p:sp>
      <p:sp>
        <p:nvSpPr>
          <p:cNvPr id="39" name="Shape 37"/>
          <p:cNvSpPr/>
          <p:nvPr/>
        </p:nvSpPr>
        <p:spPr>
          <a:xfrm>
            <a:off x="603504" y="4892040"/>
            <a:ext cx="11009376" cy="1234440"/>
          </a:xfrm>
          <a:prstGeom prst="roundRect">
            <a:avLst>
              <a:gd name="adj" fmla="val 10370"/>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40" name="Text 38"/>
          <p:cNvSpPr/>
          <p:nvPr/>
        </p:nvSpPr>
        <p:spPr>
          <a:xfrm>
            <a:off x="914400" y="5102352"/>
            <a:ext cx="10424160" cy="320040"/>
          </a:xfrm>
          <a:prstGeom prst="rect">
            <a:avLst/>
          </a:prstGeom>
          <a:noFill/>
          <a:ln/>
        </p:spPr>
        <p:txBody>
          <a:bodyPr wrap="square" lIns="0" tIns="0" rIns="0" bIns="0" rtlCol="0" anchor="ctr"/>
          <a:lstStyle/>
          <a:p>
            <a:pPr marL="0" indent="0">
              <a:buNone/>
            </a:pPr>
            <a:r>
              <a:rPr lang="en-US" sz="1450" b="1" dirty="0">
                <a:solidFill>
                  <a:srgbClr val="0F1E38"/>
                </a:solidFill>
                <a:latin typeface="Calibri" pitchFamily="34" charset="0"/>
                <a:ea typeface="Calibri" pitchFamily="34" charset="-122"/>
                <a:cs typeface="Calibri" pitchFamily="34" charset="-120"/>
              </a:rPr>
              <a:t>Alle drei markierten Entwurfsentscheidungen folgen aus den </a:t>
            </a:r>
            <a:r>
              <a:rPr lang="en-US" sz="1450" b="1" dirty="0" err="1">
                <a:solidFill>
                  <a:srgbClr val="0F1E38"/>
                </a:solidFill>
                <a:latin typeface="Calibri" pitchFamily="34" charset="0"/>
                <a:ea typeface="Calibri" pitchFamily="34" charset="-122"/>
                <a:cs typeface="Calibri" pitchFamily="34" charset="-120"/>
              </a:rPr>
              <a:t>Randbedingungen</a:t>
            </a:r>
            <a:r>
              <a:rPr lang="en-US" sz="1450" b="1" dirty="0">
                <a:solidFill>
                  <a:srgbClr val="0F1E38"/>
                </a:solidFill>
                <a:latin typeface="Calibri" pitchFamily="34" charset="0"/>
                <a:ea typeface="Calibri" pitchFamily="34" charset="-122"/>
                <a:cs typeface="Calibri" pitchFamily="34" charset="-120"/>
              </a:rPr>
              <a:t>: nicht aus dem, was gerade üblich ist.</a:t>
            </a:r>
            <a:endParaRPr lang="en-US" sz="1450" dirty="0"/>
          </a:p>
        </p:txBody>
      </p:sp>
      <p:sp>
        <p:nvSpPr>
          <p:cNvPr id="41" name="Text 39"/>
          <p:cNvSpPr/>
          <p:nvPr/>
        </p:nvSpPr>
        <p:spPr>
          <a:xfrm>
            <a:off x="914400" y="5513832"/>
            <a:ext cx="10424160" cy="365760"/>
          </a:xfrm>
          <a:prstGeom prst="rect">
            <a:avLst/>
          </a:prstGeom>
          <a:noFill/>
          <a:ln/>
        </p:spPr>
        <p:txBody>
          <a:bodyPr wrap="square" lIns="0" tIns="0" rIns="0" bIns="0" rtlCol="0" anchor="ctr"/>
          <a:lstStyle/>
          <a:p>
            <a:pPr marL="0" indent="0">
              <a:buNone/>
            </a:pPr>
            <a:r>
              <a:rPr lang="en-US" sz="1350" dirty="0">
                <a:solidFill>
                  <a:srgbClr val="44577A"/>
                </a:solidFill>
                <a:latin typeface="Calibri" pitchFamily="34" charset="0"/>
                <a:ea typeface="Calibri" pitchFamily="34" charset="-122"/>
                <a:cs typeface="Calibri" pitchFamily="34" charset="-120"/>
              </a:rPr>
              <a:t>Segmentsystem statt Gerätesystem  ·  nur beobachtbare Eingangsgrößen  ·  Knochenrichtungen statt Positionen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ENTWURF 1</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Die Ausgabe sind Knochenrichtungen</a:t>
            </a:r>
            <a:endParaRPr lang="en-US" sz="3300" dirty="0"/>
          </a:p>
        </p:txBody>
      </p:sp>
      <p:sp>
        <p:nvSpPr>
          <p:cNvPr id="4" name="Shape 2"/>
          <p:cNvSpPr/>
          <p:nvPr/>
        </p:nvSpPr>
        <p:spPr>
          <a:xfrm>
            <a:off x="548640" y="1554480"/>
            <a:ext cx="6035040" cy="4526280"/>
          </a:xfrm>
          <a:prstGeom prst="roundRect">
            <a:avLst>
              <a:gd name="adj" fmla="val 2828"/>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Text 3"/>
          <p:cNvSpPr/>
          <p:nvPr/>
        </p:nvSpPr>
        <p:spPr>
          <a:xfrm>
            <a:off x="868680" y="1810512"/>
            <a:ext cx="5440680" cy="685800"/>
          </a:xfrm>
          <a:prstGeom prst="rect">
            <a:avLst/>
          </a:prstGeom>
          <a:noFill/>
          <a:ln/>
        </p:spPr>
        <p:txBody>
          <a:bodyPr wrap="square" lIns="0" tIns="0" rIns="0" bIns="0" rtlCol="0" anchor="ctr"/>
          <a:lstStyle/>
          <a:p>
            <a:pPr marL="0" indent="0">
              <a:lnSpc>
                <a:spcPts val="2100"/>
              </a:lnSpc>
              <a:buNone/>
            </a:pPr>
            <a:r>
              <a:rPr lang="en-US" sz="1500" dirty="0">
                <a:solidFill>
                  <a:srgbClr val="0F1E38"/>
                </a:solidFill>
                <a:latin typeface="Calibri" pitchFamily="34" charset="0"/>
                <a:ea typeface="Calibri" pitchFamily="34" charset="-122"/>
                <a:cs typeface="Calibri" pitchFamily="34" charset="-120"/>
              </a:rPr>
              <a:t>Bei festen Knochenlängen ist eine beckenzentrierte Pose vollständig durch zwölf Einheitsvektoren bestimmt.</a:t>
            </a:r>
            <a:endParaRPr lang="en-US" sz="1500" dirty="0"/>
          </a:p>
        </p:txBody>
      </p:sp>
      <p:sp>
        <p:nvSpPr>
          <p:cNvPr id="6" name="Shape 4"/>
          <p:cNvSpPr/>
          <p:nvPr/>
        </p:nvSpPr>
        <p:spPr>
          <a:xfrm>
            <a:off x="868680" y="2606040"/>
            <a:ext cx="5394960" cy="621792"/>
          </a:xfrm>
          <a:prstGeom prst="roundRect">
            <a:avLst>
              <a:gd name="adj" fmla="val 11765"/>
            </a:avLst>
          </a:prstGeom>
          <a:solidFill>
            <a:srgbClr val="0F1E38"/>
          </a:solidFill>
          <a:ln/>
        </p:spPr>
        <p:txBody>
          <a:bodyPr/>
          <a:lstStyle/>
          <a:p>
            <a:endParaRPr lang="en-DE"/>
          </a:p>
        </p:txBody>
      </p:sp>
      <p:sp>
        <p:nvSpPr>
          <p:cNvPr id="7" name="Text 5"/>
          <p:cNvSpPr/>
          <p:nvPr/>
        </p:nvSpPr>
        <p:spPr>
          <a:xfrm>
            <a:off x="868680" y="2606040"/>
            <a:ext cx="5394960" cy="621792"/>
          </a:xfrm>
          <a:prstGeom prst="rect">
            <a:avLst/>
          </a:prstGeom>
          <a:noFill/>
          <a:ln/>
        </p:spPr>
        <p:txBody>
          <a:bodyPr wrap="square" lIns="0" tIns="0" rIns="0" bIns="0" rtlCol="0" anchor="ctr"/>
          <a:lstStyle/>
          <a:p>
            <a:pPr marL="0" indent="0" algn="ctr">
              <a:buNone/>
            </a:pPr>
            <a:r>
              <a:rPr lang="en-US" sz="1700" dirty="0">
                <a:solidFill>
                  <a:srgbClr val="8FC0FF"/>
                </a:solidFill>
                <a:latin typeface="Consolas" pitchFamily="34" charset="0"/>
                <a:ea typeface="Consolas" pitchFamily="34" charset="-122"/>
                <a:cs typeface="Consolas" pitchFamily="34" charset="-120"/>
              </a:rPr>
              <a:t>p[i]  =  p[Vater]  +  L[i] · d[i]</a:t>
            </a:r>
            <a:endParaRPr lang="en-US" sz="1700" dirty="0"/>
          </a:p>
        </p:txBody>
      </p:sp>
      <p:sp>
        <p:nvSpPr>
          <p:cNvPr id="8" name="Text 6"/>
          <p:cNvSpPr/>
          <p:nvPr/>
        </p:nvSpPr>
        <p:spPr>
          <a:xfrm>
            <a:off x="868680" y="3456432"/>
            <a:ext cx="5394960" cy="169164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44577A"/>
                </a:solidFill>
                <a:latin typeface="Calibri" pitchFamily="34" charset="0"/>
                <a:ea typeface="Calibri" pitchFamily="34" charset="-122"/>
                <a:cs typeface="Calibri" pitchFamily="34" charset="-120"/>
              </a:rPr>
              <a:t>24 </a:t>
            </a:r>
            <a:r>
              <a:rPr lang="en-US" sz="1400" dirty="0" err="1">
                <a:solidFill>
                  <a:srgbClr val="44577A"/>
                </a:solidFill>
                <a:latin typeface="Calibri" pitchFamily="34" charset="0"/>
                <a:ea typeface="Calibri" pitchFamily="34" charset="-122"/>
                <a:cs typeface="Calibri" pitchFamily="34" charset="-120"/>
              </a:rPr>
              <a:t>Freiheitsgrade</a:t>
            </a:r>
            <a:r>
              <a:rPr lang="en-US" sz="1400" dirty="0">
                <a:solidFill>
                  <a:srgbClr val="44577A"/>
                </a:solidFill>
                <a:latin typeface="Calibri" pitchFamily="34" charset="0"/>
                <a:ea typeface="Calibri" pitchFamily="34" charset="-122"/>
                <a:cs typeface="Calibri" pitchFamily="34" charset="-120"/>
              </a:rPr>
              <a:t>, </a:t>
            </a:r>
            <a:r>
              <a:rPr lang="en-US" sz="1400" dirty="0" err="1">
                <a:solidFill>
                  <a:srgbClr val="44577A"/>
                </a:solidFill>
                <a:latin typeface="Calibri" pitchFamily="34" charset="0"/>
                <a:ea typeface="Calibri" pitchFamily="34" charset="-122"/>
                <a:cs typeface="Calibri" pitchFamily="34" charset="-120"/>
              </a:rPr>
              <a:t>genau</a:t>
            </a:r>
            <a:r>
              <a:rPr lang="en-US" sz="1400" dirty="0">
                <a:solidFill>
                  <a:srgbClr val="44577A"/>
                </a:solidFill>
                <a:latin typeface="Calibri" pitchFamily="34" charset="0"/>
                <a:ea typeface="Calibri" pitchFamily="34" charset="-122"/>
                <a:cs typeface="Calibri" pitchFamily="34" charset="-120"/>
              </a:rPr>
              <a:t> so viele wie die Pose hat, es geht nichts verloren</a:t>
            </a:r>
            <a:endParaRPr lang="en-US" sz="1400" dirty="0"/>
          </a:p>
          <a:p>
            <a:pPr marL="342900" indent="-342900">
              <a:lnSpc>
                <a:spcPts val="2000"/>
              </a:lnSpc>
              <a:spcAft>
                <a:spcPts val="800"/>
              </a:spcAft>
              <a:buSzPct val="100000"/>
              <a:buChar char="•"/>
            </a:pPr>
            <a:r>
              <a:rPr lang="en-US" sz="1400" dirty="0">
                <a:solidFill>
                  <a:srgbClr val="44577A"/>
                </a:solidFill>
                <a:latin typeface="Calibri" pitchFamily="34" charset="0"/>
                <a:ea typeface="Calibri" pitchFamily="34" charset="-122"/>
                <a:cs typeface="Calibri" pitchFamily="34" charset="-120"/>
              </a:rPr>
              <a:t>Knochenlängen stimmen per Konstruktion, sie können nicht verrutschen</a:t>
            </a:r>
            <a:endParaRPr lang="en-US" sz="1400" dirty="0"/>
          </a:p>
          <a:p>
            <a:pPr marL="342900" indent="-342900">
              <a:lnSpc>
                <a:spcPts val="2000"/>
              </a:lnSpc>
              <a:spcAft>
                <a:spcPts val="800"/>
              </a:spcAft>
              <a:buSzPct val="100000"/>
              <a:buChar char="•"/>
            </a:pPr>
            <a:r>
              <a:rPr lang="en-US" sz="1400" dirty="0">
                <a:solidFill>
                  <a:srgbClr val="44577A"/>
                </a:solidFill>
                <a:latin typeface="Calibri" pitchFamily="34" charset="0"/>
                <a:ea typeface="Calibri" pitchFamily="34" charset="-122"/>
                <a:cs typeface="Calibri" pitchFamily="34" charset="-120"/>
              </a:rPr>
              <a:t>Keine Rotationsmehrdeutigkeit, kein Baum mit vergessenen Offsets</a:t>
            </a:r>
            <a:endParaRPr lang="en-US" sz="1400" dirty="0"/>
          </a:p>
        </p:txBody>
      </p:sp>
      <p:sp>
        <p:nvSpPr>
          <p:cNvPr id="9" name="Shape 7"/>
          <p:cNvSpPr/>
          <p:nvPr/>
        </p:nvSpPr>
        <p:spPr>
          <a:xfrm>
            <a:off x="868680" y="5285232"/>
            <a:ext cx="5394960" cy="603504"/>
          </a:xfrm>
          <a:prstGeom prst="roundRect">
            <a:avLst>
              <a:gd name="adj" fmla="val 12121"/>
            </a:avLst>
          </a:prstGeom>
          <a:solidFill>
            <a:srgbClr val="E2F5EE"/>
          </a:solidFill>
          <a:ln/>
        </p:spPr>
        <p:txBody>
          <a:bodyPr/>
          <a:lstStyle/>
          <a:p>
            <a:endParaRPr lang="en-DE"/>
          </a:p>
        </p:txBody>
      </p:sp>
      <p:sp>
        <p:nvSpPr>
          <p:cNvPr id="10" name="Text 8"/>
          <p:cNvSpPr/>
          <p:nvPr/>
        </p:nvSpPr>
        <p:spPr>
          <a:xfrm>
            <a:off x="868680" y="5285232"/>
            <a:ext cx="5394960" cy="603504"/>
          </a:xfrm>
          <a:prstGeom prst="rect">
            <a:avLst/>
          </a:prstGeom>
          <a:noFill/>
          <a:ln/>
        </p:spPr>
        <p:txBody>
          <a:bodyPr wrap="square" lIns="0" tIns="0" rIns="0" bIns="0" rtlCol="0" anchor="ctr"/>
          <a:lstStyle/>
          <a:p>
            <a:pPr marL="0" indent="0" algn="ctr">
              <a:buNone/>
            </a:pPr>
            <a:r>
              <a:rPr lang="en-US" sz="1400" b="1" dirty="0">
                <a:solidFill>
                  <a:srgbClr val="0F9E76"/>
                </a:solidFill>
                <a:latin typeface="Calibri" pitchFamily="34" charset="0"/>
                <a:ea typeface="Calibri" pitchFamily="34" charset="-122"/>
                <a:cs typeface="Calibri" pitchFamily="34" charset="-120"/>
              </a:rPr>
              <a:t>Verifiziert:  echte Richtungen + echte Längen  →  0,00 mm</a:t>
            </a:r>
            <a:endParaRPr lang="en-US" sz="1400" dirty="0"/>
          </a:p>
        </p:txBody>
      </p:sp>
      <p:sp>
        <p:nvSpPr>
          <p:cNvPr id="11" name="Shape 9"/>
          <p:cNvSpPr/>
          <p:nvPr/>
        </p:nvSpPr>
        <p:spPr>
          <a:xfrm>
            <a:off x="6812280" y="1554480"/>
            <a:ext cx="4800600" cy="4526280"/>
          </a:xfrm>
          <a:prstGeom prst="roundRect">
            <a:avLst>
              <a:gd name="adj" fmla="val 2828"/>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2" name="Text 10"/>
          <p:cNvSpPr/>
          <p:nvPr/>
        </p:nvSpPr>
        <p:spPr>
          <a:xfrm>
            <a:off x="7132320" y="1810512"/>
            <a:ext cx="4206240" cy="320040"/>
          </a:xfrm>
          <a:prstGeom prst="rect">
            <a:avLst/>
          </a:prstGeom>
          <a:noFill/>
          <a:ln/>
        </p:spPr>
        <p:txBody>
          <a:bodyPr wrap="square" lIns="0" tIns="0" rIns="0" bIns="0" rtlCol="0" anchor="ctr"/>
          <a:lstStyle/>
          <a:p>
            <a:pPr marL="0" indent="0">
              <a:buNone/>
            </a:pPr>
            <a:r>
              <a:rPr lang="en-US" sz="1600" b="1" dirty="0">
                <a:solidFill>
                  <a:srgbClr val="0F1E38"/>
                </a:solidFill>
                <a:latin typeface="Calibri" pitchFamily="34" charset="0"/>
                <a:ea typeface="Calibri" pitchFamily="34" charset="-122"/>
                <a:cs typeface="Calibri" pitchFamily="34" charset="-120"/>
              </a:rPr>
              <a:t>Warum nicht Positionen?</a:t>
            </a:r>
            <a:endParaRPr lang="en-US" sz="1600" dirty="0"/>
          </a:p>
        </p:txBody>
      </p:sp>
      <p:sp>
        <p:nvSpPr>
          <p:cNvPr id="13" name="Text 11"/>
          <p:cNvSpPr/>
          <p:nvPr/>
        </p:nvSpPr>
        <p:spPr>
          <a:xfrm>
            <a:off x="7132320" y="2212848"/>
            <a:ext cx="4206240" cy="1280160"/>
          </a:xfrm>
          <a:prstGeom prst="rect">
            <a:avLst/>
          </a:prstGeom>
          <a:noFill/>
          <a:ln/>
        </p:spPr>
        <p:txBody>
          <a:bodyPr wrap="square" lIns="0" tIns="0" rIns="0" bIns="0" rtlCol="0" anchor="ctr"/>
          <a:lstStyle/>
          <a:p>
            <a:pPr marL="0" indent="0">
              <a:lnSpc>
                <a:spcPts val="1800"/>
              </a:lnSpc>
              <a:buNone/>
            </a:pPr>
            <a:r>
              <a:rPr lang="en-US" sz="1350" dirty="0">
                <a:solidFill>
                  <a:srgbClr val="44577A"/>
                </a:solidFill>
                <a:latin typeface="Calibri" pitchFamily="34" charset="0"/>
                <a:ea typeface="Calibri" pitchFamily="34" charset="-122"/>
                <a:cs typeface="Calibri" pitchFamily="34" charset="-120"/>
              </a:rPr>
              <a:t>Ein Netz, das 39 Koordinaten frei ausgibt, kann Knochen dehnen und stauchen. Die Pose wird physikalisch unmöglich, und der Fehler wandert die Kette hinunter.</a:t>
            </a:r>
            <a:endParaRPr lang="en-US" sz="1350" dirty="0"/>
          </a:p>
        </p:txBody>
      </p:sp>
      <p:sp>
        <p:nvSpPr>
          <p:cNvPr id="14" name="Text 12"/>
          <p:cNvSpPr/>
          <p:nvPr/>
        </p:nvSpPr>
        <p:spPr>
          <a:xfrm>
            <a:off x="7132320" y="3703320"/>
            <a:ext cx="4206240" cy="320040"/>
          </a:xfrm>
          <a:prstGeom prst="rect">
            <a:avLst/>
          </a:prstGeom>
          <a:noFill/>
          <a:ln/>
        </p:spPr>
        <p:txBody>
          <a:bodyPr wrap="square" lIns="0" tIns="0" rIns="0" bIns="0" rtlCol="0" anchor="ctr"/>
          <a:lstStyle/>
          <a:p>
            <a:pPr marL="0" indent="0">
              <a:buNone/>
            </a:pPr>
            <a:r>
              <a:rPr lang="en-US" sz="1600" b="1" dirty="0">
                <a:solidFill>
                  <a:srgbClr val="0F1E38"/>
                </a:solidFill>
                <a:latin typeface="Calibri" pitchFamily="34" charset="0"/>
                <a:ea typeface="Calibri" pitchFamily="34" charset="-122"/>
                <a:cs typeface="Calibri" pitchFamily="34" charset="-120"/>
              </a:rPr>
              <a:t>Warum nicht 6D-Drehungen?</a:t>
            </a:r>
            <a:endParaRPr lang="en-US" sz="1600" dirty="0"/>
          </a:p>
        </p:txBody>
      </p:sp>
      <p:sp>
        <p:nvSpPr>
          <p:cNvPr id="15" name="Text 13"/>
          <p:cNvSpPr/>
          <p:nvPr/>
        </p:nvSpPr>
        <p:spPr>
          <a:xfrm>
            <a:off x="7132320" y="4105656"/>
            <a:ext cx="4206240" cy="1371600"/>
          </a:xfrm>
          <a:prstGeom prst="rect">
            <a:avLst/>
          </a:prstGeom>
          <a:noFill/>
          <a:ln/>
        </p:spPr>
        <p:txBody>
          <a:bodyPr wrap="square" lIns="0" tIns="0" rIns="0" bIns="0" rtlCol="0" anchor="ctr"/>
          <a:lstStyle/>
          <a:p>
            <a:pPr marL="0" indent="0">
              <a:lnSpc>
                <a:spcPts val="1800"/>
              </a:lnSpc>
              <a:buNone/>
            </a:pPr>
            <a:r>
              <a:rPr lang="en-US" sz="1350" dirty="0">
                <a:solidFill>
                  <a:srgbClr val="44577A"/>
                </a:solidFill>
                <a:latin typeface="Calibri" pitchFamily="34" charset="0"/>
                <a:ea typeface="Calibri" pitchFamily="34" charset="-122"/>
                <a:cs typeface="Calibri" pitchFamily="34" charset="-120"/>
              </a:rPr>
              <a:t>Die Verdrehung um die Knochenachse steckt in Positionen ohnehin nicht drin. Sie mitzulernen kostet Kapazität und bringt für unser Ziel nichts.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ENTWURF 2</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Als Eingang nur, was messbar ist</a:t>
            </a:r>
            <a:endParaRPr lang="en-US" sz="3300" dirty="0"/>
          </a:p>
        </p:txBody>
      </p:sp>
      <p:sp>
        <p:nvSpPr>
          <p:cNvPr id="4" name="Shape 2"/>
          <p:cNvSpPr/>
          <p:nvPr/>
        </p:nvSpPr>
        <p:spPr>
          <a:xfrm>
            <a:off x="548640" y="1536192"/>
            <a:ext cx="5440680" cy="1481328"/>
          </a:xfrm>
          <a:prstGeom prst="roundRect">
            <a:avLst>
              <a:gd name="adj" fmla="val 864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Shape 3"/>
          <p:cNvSpPr/>
          <p:nvPr/>
        </p:nvSpPr>
        <p:spPr>
          <a:xfrm>
            <a:off x="822960" y="1828800"/>
            <a:ext cx="384048" cy="384048"/>
          </a:xfrm>
          <a:prstGeom prst="ellipse">
            <a:avLst/>
          </a:prstGeom>
          <a:solidFill>
            <a:srgbClr val="2F6FE0"/>
          </a:solidFill>
          <a:ln/>
        </p:spPr>
        <p:txBody>
          <a:bodyPr/>
          <a:lstStyle/>
          <a:p>
            <a:endParaRPr lang="en-DE"/>
          </a:p>
        </p:txBody>
      </p:sp>
      <p:sp>
        <p:nvSpPr>
          <p:cNvPr id="6" name="Text 4"/>
          <p:cNvSpPr/>
          <p:nvPr/>
        </p:nvSpPr>
        <p:spPr>
          <a:xfrm>
            <a:off x="1371600" y="1719072"/>
            <a:ext cx="3200400" cy="310896"/>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Schwerkraftrichtung</a:t>
            </a:r>
            <a:endParaRPr lang="en-US" sz="1500" dirty="0"/>
          </a:p>
        </p:txBody>
      </p:sp>
      <p:sp>
        <p:nvSpPr>
          <p:cNvPr id="7" name="Text 5"/>
          <p:cNvSpPr/>
          <p:nvPr/>
        </p:nvSpPr>
        <p:spPr>
          <a:xfrm>
            <a:off x="4617720" y="1737360"/>
            <a:ext cx="1097280" cy="274320"/>
          </a:xfrm>
          <a:prstGeom prst="rect">
            <a:avLst/>
          </a:prstGeom>
          <a:noFill/>
          <a:ln/>
        </p:spPr>
        <p:txBody>
          <a:bodyPr wrap="square" lIns="0" tIns="0" rIns="0" bIns="0" rtlCol="0" anchor="ctr"/>
          <a:lstStyle/>
          <a:p>
            <a:pPr marL="0" indent="0" algn="r">
              <a:buNone/>
            </a:pPr>
            <a:r>
              <a:rPr lang="en-US" sz="1200" b="1" dirty="0">
                <a:solidFill>
                  <a:srgbClr val="2F6FE0"/>
                </a:solidFill>
                <a:latin typeface="Calibri" pitchFamily="34" charset="0"/>
                <a:ea typeface="Calibri" pitchFamily="34" charset="-122"/>
                <a:cs typeface="Calibri" pitchFamily="34" charset="-120"/>
              </a:rPr>
              <a:t>3 Kanäle</a:t>
            </a:r>
            <a:endParaRPr lang="en-US" sz="1200" dirty="0"/>
          </a:p>
        </p:txBody>
      </p:sp>
      <p:sp>
        <p:nvSpPr>
          <p:cNvPr id="8" name="Text 6"/>
          <p:cNvSpPr/>
          <p:nvPr/>
        </p:nvSpPr>
        <p:spPr>
          <a:xfrm>
            <a:off x="1371600" y="2084832"/>
            <a:ext cx="4297680" cy="82296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Komplementärfilter aus acc und gyro. Driftfrei, weil der Beschleunigungsmesser laufend nachzieht.</a:t>
            </a:r>
            <a:endParaRPr lang="en-US" sz="1250" dirty="0"/>
          </a:p>
        </p:txBody>
      </p:sp>
      <p:sp>
        <p:nvSpPr>
          <p:cNvPr id="9" name="Shape 7"/>
          <p:cNvSpPr/>
          <p:nvPr/>
        </p:nvSpPr>
        <p:spPr>
          <a:xfrm>
            <a:off x="6172200" y="1536192"/>
            <a:ext cx="5440680" cy="1481328"/>
          </a:xfrm>
          <a:prstGeom prst="roundRect">
            <a:avLst>
              <a:gd name="adj" fmla="val 864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0" name="Shape 8"/>
          <p:cNvSpPr/>
          <p:nvPr/>
        </p:nvSpPr>
        <p:spPr>
          <a:xfrm>
            <a:off x="6446520" y="1828800"/>
            <a:ext cx="384048" cy="384048"/>
          </a:xfrm>
          <a:prstGeom prst="ellipse">
            <a:avLst/>
          </a:prstGeom>
          <a:solidFill>
            <a:srgbClr val="2F6FE0"/>
          </a:solidFill>
          <a:ln/>
        </p:spPr>
        <p:txBody>
          <a:bodyPr/>
          <a:lstStyle/>
          <a:p>
            <a:endParaRPr lang="en-DE"/>
          </a:p>
        </p:txBody>
      </p:sp>
      <p:sp>
        <p:nvSpPr>
          <p:cNvPr id="11" name="Text 9"/>
          <p:cNvSpPr/>
          <p:nvPr/>
        </p:nvSpPr>
        <p:spPr>
          <a:xfrm>
            <a:off x="6995160" y="1719072"/>
            <a:ext cx="3200400" cy="310896"/>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Lineare Beschleunigung</a:t>
            </a:r>
            <a:endParaRPr lang="en-US" sz="1500" dirty="0"/>
          </a:p>
        </p:txBody>
      </p:sp>
      <p:sp>
        <p:nvSpPr>
          <p:cNvPr id="12" name="Text 10"/>
          <p:cNvSpPr/>
          <p:nvPr/>
        </p:nvSpPr>
        <p:spPr>
          <a:xfrm>
            <a:off x="10241280" y="1737360"/>
            <a:ext cx="1097280" cy="274320"/>
          </a:xfrm>
          <a:prstGeom prst="rect">
            <a:avLst/>
          </a:prstGeom>
          <a:noFill/>
          <a:ln/>
        </p:spPr>
        <p:txBody>
          <a:bodyPr wrap="square" lIns="0" tIns="0" rIns="0" bIns="0" rtlCol="0" anchor="ctr"/>
          <a:lstStyle/>
          <a:p>
            <a:pPr marL="0" indent="0" algn="r">
              <a:buNone/>
            </a:pPr>
            <a:r>
              <a:rPr lang="en-US" sz="1200" b="1" dirty="0">
                <a:solidFill>
                  <a:srgbClr val="2F6FE0"/>
                </a:solidFill>
                <a:latin typeface="Calibri" pitchFamily="34" charset="0"/>
                <a:ea typeface="Calibri" pitchFamily="34" charset="-122"/>
                <a:cs typeface="Calibri" pitchFamily="34" charset="-120"/>
              </a:rPr>
              <a:t>3 Kanäle</a:t>
            </a:r>
            <a:endParaRPr lang="en-US" sz="1200" dirty="0"/>
          </a:p>
        </p:txBody>
      </p:sp>
      <p:sp>
        <p:nvSpPr>
          <p:cNvPr id="13" name="Text 11"/>
          <p:cNvSpPr/>
          <p:nvPr/>
        </p:nvSpPr>
        <p:spPr>
          <a:xfrm>
            <a:off x="6995160" y="2084832"/>
            <a:ext cx="4297680" cy="82296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acc minus </a:t>
            </a:r>
            <a:r>
              <a:rPr lang="en-US" sz="1250" dirty="0" err="1">
                <a:solidFill>
                  <a:srgbClr val="44577A"/>
                </a:solidFill>
                <a:latin typeface="Calibri" pitchFamily="34" charset="0"/>
                <a:ea typeface="Calibri" pitchFamily="34" charset="-122"/>
                <a:cs typeface="Calibri" pitchFamily="34" charset="-120"/>
              </a:rPr>
              <a:t>Schwerkraft</a:t>
            </a:r>
            <a:r>
              <a:rPr lang="en-US" sz="1250" dirty="0">
                <a:solidFill>
                  <a:srgbClr val="44577A"/>
                </a:solidFill>
                <a:latin typeface="Calibri" pitchFamily="34" charset="0"/>
                <a:ea typeface="Calibri" pitchFamily="34" charset="-122"/>
                <a:cs typeface="Calibri" pitchFamily="34" charset="-120"/>
              </a:rPr>
              <a:t> = die eigentliche Bewegung des Glieds.</a:t>
            </a:r>
            <a:endParaRPr lang="en-US" sz="1250" dirty="0"/>
          </a:p>
        </p:txBody>
      </p:sp>
      <p:sp>
        <p:nvSpPr>
          <p:cNvPr id="14" name="Shape 12"/>
          <p:cNvSpPr/>
          <p:nvPr/>
        </p:nvSpPr>
        <p:spPr>
          <a:xfrm>
            <a:off x="548640" y="3182112"/>
            <a:ext cx="5440680" cy="1481328"/>
          </a:xfrm>
          <a:prstGeom prst="roundRect">
            <a:avLst>
              <a:gd name="adj" fmla="val 864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5" name="Shape 13"/>
          <p:cNvSpPr/>
          <p:nvPr/>
        </p:nvSpPr>
        <p:spPr>
          <a:xfrm>
            <a:off x="822960" y="3474720"/>
            <a:ext cx="384048" cy="384048"/>
          </a:xfrm>
          <a:prstGeom prst="ellipse">
            <a:avLst/>
          </a:prstGeom>
          <a:solidFill>
            <a:srgbClr val="0E8FA8"/>
          </a:solidFill>
          <a:ln/>
        </p:spPr>
        <p:txBody>
          <a:bodyPr/>
          <a:lstStyle/>
          <a:p>
            <a:endParaRPr lang="en-DE"/>
          </a:p>
        </p:txBody>
      </p:sp>
      <p:sp>
        <p:nvSpPr>
          <p:cNvPr id="16" name="Text 14"/>
          <p:cNvSpPr/>
          <p:nvPr/>
        </p:nvSpPr>
        <p:spPr>
          <a:xfrm>
            <a:off x="1371600" y="3364992"/>
            <a:ext cx="3200400" cy="310896"/>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Drehrate</a:t>
            </a:r>
            <a:endParaRPr lang="en-US" sz="1500" dirty="0"/>
          </a:p>
        </p:txBody>
      </p:sp>
      <p:sp>
        <p:nvSpPr>
          <p:cNvPr id="17" name="Text 15"/>
          <p:cNvSpPr/>
          <p:nvPr/>
        </p:nvSpPr>
        <p:spPr>
          <a:xfrm>
            <a:off x="4617720" y="3383280"/>
            <a:ext cx="1097280" cy="274320"/>
          </a:xfrm>
          <a:prstGeom prst="rect">
            <a:avLst/>
          </a:prstGeom>
          <a:noFill/>
          <a:ln/>
        </p:spPr>
        <p:txBody>
          <a:bodyPr wrap="square" lIns="0" tIns="0" rIns="0" bIns="0" rtlCol="0" anchor="ctr"/>
          <a:lstStyle/>
          <a:p>
            <a:pPr marL="0" indent="0" algn="r">
              <a:buNone/>
            </a:pPr>
            <a:r>
              <a:rPr lang="en-US" sz="1200" b="1" dirty="0">
                <a:solidFill>
                  <a:srgbClr val="0E8FA8"/>
                </a:solidFill>
                <a:latin typeface="Calibri" pitchFamily="34" charset="0"/>
                <a:ea typeface="Calibri" pitchFamily="34" charset="-122"/>
                <a:cs typeface="Calibri" pitchFamily="34" charset="-120"/>
              </a:rPr>
              <a:t>3 Kanäle</a:t>
            </a:r>
            <a:endParaRPr lang="en-US" sz="1200" dirty="0"/>
          </a:p>
        </p:txBody>
      </p:sp>
      <p:sp>
        <p:nvSpPr>
          <p:cNvPr id="18" name="Text 16"/>
          <p:cNvSpPr/>
          <p:nvPr/>
        </p:nvSpPr>
        <p:spPr>
          <a:xfrm>
            <a:off x="1371600" y="3730752"/>
            <a:ext cx="4297680" cy="82296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direkt gemessen, kein Integral, also kein Wegdriften.</a:t>
            </a:r>
            <a:endParaRPr lang="en-US" sz="1250" dirty="0"/>
          </a:p>
        </p:txBody>
      </p:sp>
      <p:sp>
        <p:nvSpPr>
          <p:cNvPr id="19" name="Shape 17"/>
          <p:cNvSpPr/>
          <p:nvPr/>
        </p:nvSpPr>
        <p:spPr>
          <a:xfrm>
            <a:off x="6172200" y="3182112"/>
            <a:ext cx="5440680" cy="1481328"/>
          </a:xfrm>
          <a:prstGeom prst="roundRect">
            <a:avLst>
              <a:gd name="adj" fmla="val 864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20" name="Shape 18"/>
          <p:cNvSpPr/>
          <p:nvPr/>
        </p:nvSpPr>
        <p:spPr>
          <a:xfrm>
            <a:off x="6446520" y="3474720"/>
            <a:ext cx="384048" cy="384048"/>
          </a:xfrm>
          <a:prstGeom prst="ellipse">
            <a:avLst/>
          </a:prstGeom>
          <a:solidFill>
            <a:srgbClr val="D9661B"/>
          </a:solidFill>
          <a:ln/>
        </p:spPr>
        <p:txBody>
          <a:bodyPr/>
          <a:lstStyle/>
          <a:p>
            <a:endParaRPr lang="en-DE"/>
          </a:p>
        </p:txBody>
      </p:sp>
      <p:sp>
        <p:nvSpPr>
          <p:cNvPr id="21" name="Text 19"/>
          <p:cNvSpPr/>
          <p:nvPr/>
        </p:nvSpPr>
        <p:spPr>
          <a:xfrm>
            <a:off x="6995160" y="3364992"/>
            <a:ext cx="3200400" cy="310896"/>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Beträge und Aufprallband</a:t>
            </a:r>
            <a:endParaRPr lang="en-US" sz="1500" dirty="0"/>
          </a:p>
        </p:txBody>
      </p:sp>
      <p:sp>
        <p:nvSpPr>
          <p:cNvPr id="22" name="Text 20"/>
          <p:cNvSpPr/>
          <p:nvPr/>
        </p:nvSpPr>
        <p:spPr>
          <a:xfrm>
            <a:off x="10241280" y="3383280"/>
            <a:ext cx="1097280" cy="274320"/>
          </a:xfrm>
          <a:prstGeom prst="rect">
            <a:avLst/>
          </a:prstGeom>
          <a:noFill/>
          <a:ln/>
        </p:spPr>
        <p:txBody>
          <a:bodyPr wrap="square" lIns="0" tIns="0" rIns="0" bIns="0" rtlCol="0" anchor="ctr"/>
          <a:lstStyle/>
          <a:p>
            <a:pPr marL="0" indent="0" algn="r">
              <a:buNone/>
            </a:pPr>
            <a:r>
              <a:rPr lang="en-US" sz="1200" b="1" dirty="0">
                <a:solidFill>
                  <a:srgbClr val="D9661B"/>
                </a:solidFill>
                <a:latin typeface="Calibri" pitchFamily="34" charset="0"/>
                <a:ea typeface="Calibri" pitchFamily="34" charset="-122"/>
                <a:cs typeface="Calibri" pitchFamily="34" charset="-120"/>
              </a:rPr>
              <a:t>3 Kanäle</a:t>
            </a:r>
            <a:endParaRPr lang="en-US" sz="1200" dirty="0"/>
          </a:p>
        </p:txBody>
      </p:sp>
      <p:sp>
        <p:nvSpPr>
          <p:cNvPr id="23" name="Text 21"/>
          <p:cNvSpPr/>
          <p:nvPr/>
        </p:nvSpPr>
        <p:spPr>
          <a:xfrm>
            <a:off x="6995160" y="3730752"/>
            <a:ext cx="4297680" cy="82296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Energie zwischen 20 und 90 Hz. Ohne sie geht beim Herunterrechnen auf 50 Hz die Landung verloren.</a:t>
            </a:r>
            <a:endParaRPr lang="en-US" sz="1250" dirty="0"/>
          </a:p>
        </p:txBody>
      </p:sp>
      <p:sp>
        <p:nvSpPr>
          <p:cNvPr id="24" name="Shape 22"/>
          <p:cNvSpPr/>
          <p:nvPr/>
        </p:nvSpPr>
        <p:spPr>
          <a:xfrm>
            <a:off x="548640" y="4919472"/>
            <a:ext cx="11064240" cy="1188720"/>
          </a:xfrm>
          <a:prstGeom prst="roundRect">
            <a:avLst>
              <a:gd name="adj" fmla="val 10769"/>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25" name="Text 23"/>
          <p:cNvSpPr/>
          <p:nvPr/>
        </p:nvSpPr>
        <p:spPr>
          <a:xfrm>
            <a:off x="868680" y="5120640"/>
            <a:ext cx="7498080" cy="777240"/>
          </a:xfrm>
          <a:prstGeom prst="rect">
            <a:avLst/>
          </a:prstGeom>
          <a:noFill/>
          <a:ln/>
        </p:spPr>
        <p:txBody>
          <a:bodyPr wrap="square" lIns="0" tIns="0" rIns="0" bIns="0" rtlCol="0" anchor="ctr"/>
          <a:lstStyle/>
          <a:p>
            <a:pPr marL="0" indent="0">
              <a:lnSpc>
                <a:spcPts val="1900"/>
              </a:lnSpc>
              <a:buNone/>
            </a:pPr>
            <a:r>
              <a:rPr lang="en-US" sz="1400" dirty="0">
                <a:solidFill>
                  <a:srgbClr val="0F1E38"/>
                </a:solidFill>
                <a:latin typeface="Calibri" pitchFamily="34" charset="0"/>
                <a:ea typeface="Calibri" pitchFamily="34" charset="-122"/>
                <a:cs typeface="Calibri" pitchFamily="34" charset="-120"/>
              </a:rPr>
              <a:t>Der Aufprallkanal ist an den Knöcheln sechsmal so groß wie an den </a:t>
            </a:r>
            <a:r>
              <a:rPr lang="en-US" sz="1400" dirty="0" err="1">
                <a:solidFill>
                  <a:srgbClr val="0F1E38"/>
                </a:solidFill>
                <a:latin typeface="Calibri" pitchFamily="34" charset="0"/>
                <a:ea typeface="Calibri" pitchFamily="34" charset="-122"/>
                <a:cs typeface="Calibri" pitchFamily="34" charset="-120"/>
              </a:rPr>
              <a:t>Handgelenken</a:t>
            </a:r>
            <a:r>
              <a:rPr lang="en-US" sz="1400" dirty="0">
                <a:solidFill>
                  <a:srgbClr val="0F1E38"/>
                </a:solidFill>
                <a:latin typeface="Calibri" pitchFamily="34" charset="0"/>
                <a:ea typeface="Calibri" pitchFamily="34" charset="-122"/>
                <a:cs typeface="Calibri" pitchFamily="34" charset="-120"/>
              </a:rPr>
              <a:t>, er trägt genau das, wofür er gedacht ist.</a:t>
            </a:r>
            <a:endParaRPr lang="en-US" sz="1400" dirty="0"/>
          </a:p>
        </p:txBody>
      </p:sp>
      <p:sp>
        <p:nvSpPr>
          <p:cNvPr id="26" name="Text 24"/>
          <p:cNvSpPr/>
          <p:nvPr/>
        </p:nvSpPr>
        <p:spPr>
          <a:xfrm>
            <a:off x="8686800" y="5138928"/>
            <a:ext cx="2651760" cy="685800"/>
          </a:xfrm>
          <a:prstGeom prst="rect">
            <a:avLst/>
          </a:prstGeom>
          <a:noFill/>
          <a:ln/>
        </p:spPr>
        <p:txBody>
          <a:bodyPr wrap="square" lIns="0" tIns="0" rIns="0" bIns="0" rtlCol="0" anchor="ctr"/>
          <a:lstStyle/>
          <a:p>
            <a:pPr marL="0" indent="0" algn="ctr">
              <a:buNone/>
            </a:pPr>
            <a:r>
              <a:rPr lang="en-US" sz="2800" b="1" dirty="0">
                <a:solidFill>
                  <a:srgbClr val="2F6FE0"/>
                </a:solidFill>
                <a:latin typeface="Calibri" pitchFamily="34" charset="0"/>
                <a:ea typeface="Calibri" pitchFamily="34" charset="-122"/>
                <a:cs typeface="Calibri" pitchFamily="34" charset="-120"/>
              </a:rPr>
              <a:t>12 × 4 = 48</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ENTWURF 3</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Die Montage rechnerisch herausdrehen</a:t>
            </a:r>
            <a:endParaRPr lang="en-US" sz="3300" dirty="0"/>
          </a:p>
        </p:txBody>
      </p:sp>
      <p:sp>
        <p:nvSpPr>
          <p:cNvPr id="4" name="Shape 2"/>
          <p:cNvSpPr/>
          <p:nvPr/>
        </p:nvSpPr>
        <p:spPr>
          <a:xfrm>
            <a:off x="548640" y="1554480"/>
            <a:ext cx="5806440" cy="3063240"/>
          </a:xfrm>
          <a:prstGeom prst="roundRect">
            <a:avLst>
              <a:gd name="adj" fmla="val 4179"/>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Text 3"/>
          <p:cNvSpPr/>
          <p:nvPr/>
        </p:nvSpPr>
        <p:spPr>
          <a:xfrm>
            <a:off x="868680" y="1810512"/>
            <a:ext cx="5212080" cy="713232"/>
          </a:xfrm>
          <a:prstGeom prst="rect">
            <a:avLst/>
          </a:prstGeom>
          <a:noFill/>
          <a:ln/>
        </p:spPr>
        <p:txBody>
          <a:bodyPr wrap="square" lIns="0" tIns="0" rIns="0" bIns="0" rtlCol="0" anchor="ctr"/>
          <a:lstStyle/>
          <a:p>
            <a:pPr marL="0" indent="0">
              <a:lnSpc>
                <a:spcPts val="2000"/>
              </a:lnSpc>
              <a:buNone/>
            </a:pPr>
            <a:r>
              <a:rPr lang="en-US" sz="1450" dirty="0">
                <a:solidFill>
                  <a:srgbClr val="0F1E38"/>
                </a:solidFill>
                <a:latin typeface="Calibri" pitchFamily="34" charset="0"/>
                <a:ea typeface="Calibri" pitchFamily="34" charset="-122"/>
                <a:cs typeface="Calibri" pitchFamily="34" charset="-120"/>
              </a:rPr>
              <a:t>Das Gerätesystem hängt davon ab, wie das Band an dem Tag gerade saß. Das Segmentsystem hängt nur am Körper.</a:t>
            </a:r>
            <a:endParaRPr lang="en-US" sz="1450" dirty="0"/>
          </a:p>
        </p:txBody>
      </p:sp>
      <p:sp>
        <p:nvSpPr>
          <p:cNvPr id="6" name="Text 4"/>
          <p:cNvSpPr/>
          <p:nvPr/>
        </p:nvSpPr>
        <p:spPr>
          <a:xfrm>
            <a:off x="868680" y="2651760"/>
            <a:ext cx="5212080" cy="1645920"/>
          </a:xfrm>
          <a:prstGeom prst="rect">
            <a:avLst/>
          </a:prstGeom>
          <a:noFill/>
          <a:ln/>
        </p:spPr>
        <p:txBody>
          <a:bodyPr wrap="square" lIns="0" tIns="0" rIns="0" bIns="0" rtlCol="0" anchor="ctr"/>
          <a:lstStyle/>
          <a:p>
            <a:pPr marL="0" indent="0">
              <a:lnSpc>
                <a:spcPts val="1800"/>
              </a:lnSpc>
              <a:buNone/>
            </a:pPr>
            <a:r>
              <a:rPr lang="en-US" sz="1350" dirty="0">
                <a:solidFill>
                  <a:srgbClr val="44577A"/>
                </a:solidFill>
                <a:latin typeface="Calibri" pitchFamily="34" charset="0"/>
                <a:ea typeface="Calibri" pitchFamily="34" charset="-122"/>
                <a:cs typeface="Calibri" pitchFamily="34" charset="-120"/>
              </a:rPr>
              <a:t>Die Drehung dazwischen wird über die ganze Aufnahme aus der Pose </a:t>
            </a:r>
            <a:r>
              <a:rPr lang="en-US" sz="1350" dirty="0" err="1">
                <a:solidFill>
                  <a:srgbClr val="44577A"/>
                </a:solidFill>
                <a:latin typeface="Calibri" pitchFamily="34" charset="0"/>
                <a:ea typeface="Calibri" pitchFamily="34" charset="-122"/>
                <a:cs typeface="Calibri" pitchFamily="34" charset="-120"/>
              </a:rPr>
              <a:t>geschätzt</a:t>
            </a:r>
            <a:r>
              <a:rPr lang="en-US" sz="1350" dirty="0">
                <a:solidFill>
                  <a:srgbClr val="44577A"/>
                </a:solidFill>
                <a:latin typeface="Calibri" pitchFamily="34" charset="0"/>
                <a:ea typeface="Calibri" pitchFamily="34" charset="-122"/>
                <a:cs typeface="Calibri" pitchFamily="34" charset="-120"/>
              </a:rPr>
              <a:t>. Die funktionelle Sensor-zu-Segment-Kalibrierung aus der Biomechanik, mit dem Video als Referenz statt einer vorgeschriebenen T-Pose.</a:t>
            </a:r>
            <a:endParaRPr lang="en-US" sz="1350" dirty="0"/>
          </a:p>
        </p:txBody>
      </p:sp>
      <p:sp>
        <p:nvSpPr>
          <p:cNvPr id="7" name="Shape 5"/>
          <p:cNvSpPr/>
          <p:nvPr/>
        </p:nvSpPr>
        <p:spPr>
          <a:xfrm>
            <a:off x="6583680" y="1554480"/>
            <a:ext cx="5029200" cy="3063240"/>
          </a:xfrm>
          <a:prstGeom prst="roundRect">
            <a:avLst>
              <a:gd name="adj" fmla="val 4179"/>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8" name="Text 6"/>
          <p:cNvSpPr/>
          <p:nvPr/>
        </p:nvSpPr>
        <p:spPr>
          <a:xfrm>
            <a:off x="6903720" y="1755648"/>
            <a:ext cx="4389120" cy="292608"/>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Gegenprobe</a:t>
            </a:r>
            <a:endParaRPr lang="en-US" sz="1500" dirty="0"/>
          </a:p>
        </p:txBody>
      </p:sp>
      <p:sp>
        <p:nvSpPr>
          <p:cNvPr id="9" name="Text 7"/>
          <p:cNvSpPr/>
          <p:nvPr/>
        </p:nvSpPr>
        <p:spPr>
          <a:xfrm>
            <a:off x="6903720" y="2103120"/>
            <a:ext cx="4389120" cy="457200"/>
          </a:xfrm>
          <a:prstGeom prst="rect">
            <a:avLst/>
          </a:prstGeom>
          <a:noFill/>
          <a:ln/>
        </p:spPr>
        <p:txBody>
          <a:bodyPr wrap="square" lIns="0" tIns="0" rIns="0" bIns="0" rtlCol="0" anchor="ctr"/>
          <a:lstStyle/>
          <a:p>
            <a:pPr marL="0" indent="0">
              <a:lnSpc>
                <a:spcPts val="1600"/>
              </a:lnSpc>
              <a:buNone/>
            </a:pPr>
            <a:r>
              <a:rPr lang="en-US" sz="1250" dirty="0">
                <a:solidFill>
                  <a:srgbClr val="44577A"/>
                </a:solidFill>
                <a:latin typeface="Calibri" pitchFamily="34" charset="0"/>
                <a:ea typeface="Calibri" pitchFamily="34" charset="-122"/>
                <a:cs typeface="Calibri" pitchFamily="34" charset="-120"/>
              </a:rPr>
              <a:t>Gleiche Bewegung, </a:t>
            </a:r>
            <a:r>
              <a:rPr lang="en-US" sz="1250" dirty="0" err="1">
                <a:solidFill>
                  <a:srgbClr val="44577A"/>
                </a:solidFill>
                <a:latin typeface="Calibri" pitchFamily="34" charset="0"/>
                <a:ea typeface="Calibri" pitchFamily="34" charset="-122"/>
                <a:cs typeface="Calibri" pitchFamily="34" charset="-120"/>
              </a:rPr>
              <a:t>gleiches</a:t>
            </a:r>
            <a:r>
              <a:rPr lang="en-US" sz="1250" dirty="0">
                <a:solidFill>
                  <a:srgbClr val="44577A"/>
                </a:solidFill>
                <a:latin typeface="Calibri" pitchFamily="34" charset="0"/>
                <a:ea typeface="Calibri" pitchFamily="34" charset="-122"/>
                <a:cs typeface="Calibri" pitchFamily="34" charset="-120"/>
              </a:rPr>
              <a:t> </a:t>
            </a:r>
            <a:r>
              <a:rPr lang="en-US" sz="1250" dirty="0" err="1">
                <a:solidFill>
                  <a:srgbClr val="44577A"/>
                </a:solidFill>
                <a:latin typeface="Calibri" pitchFamily="34" charset="0"/>
                <a:ea typeface="Calibri" pitchFamily="34" charset="-122"/>
                <a:cs typeface="Calibri" pitchFamily="34" charset="-120"/>
              </a:rPr>
              <a:t>Rauschen</a:t>
            </a:r>
            <a:r>
              <a:rPr lang="en-US" sz="1250" dirty="0">
                <a:solidFill>
                  <a:srgbClr val="44577A"/>
                </a:solidFill>
                <a:latin typeface="Calibri" pitchFamily="34" charset="0"/>
                <a:ea typeface="Calibri" pitchFamily="34" charset="-122"/>
                <a:cs typeface="Calibri" pitchFamily="34" charset="-120"/>
              </a:rPr>
              <a:t>, </a:t>
            </a:r>
            <a:r>
              <a:rPr lang="en-US" sz="1250" dirty="0" err="1">
                <a:solidFill>
                  <a:srgbClr val="44577A"/>
                </a:solidFill>
                <a:latin typeface="Calibri" pitchFamily="34" charset="0"/>
                <a:ea typeface="Calibri" pitchFamily="34" charset="-122"/>
                <a:cs typeface="Calibri" pitchFamily="34" charset="-120"/>
              </a:rPr>
              <a:t>nur</a:t>
            </a:r>
            <a:r>
              <a:rPr lang="en-US" sz="1250" dirty="0">
                <a:solidFill>
                  <a:srgbClr val="44577A"/>
                </a:solidFill>
                <a:latin typeface="Calibri" pitchFamily="34" charset="0"/>
                <a:ea typeface="Calibri" pitchFamily="34" charset="-122"/>
                <a:cs typeface="Calibri" pitchFamily="34" charset="-120"/>
              </a:rPr>
              <a:t> die Bandlage verändert.</a:t>
            </a:r>
            <a:endParaRPr lang="en-US" sz="1250" dirty="0"/>
          </a:p>
        </p:txBody>
      </p:sp>
      <p:sp>
        <p:nvSpPr>
          <p:cNvPr id="10" name="Text 8"/>
          <p:cNvSpPr/>
          <p:nvPr/>
        </p:nvSpPr>
        <p:spPr>
          <a:xfrm>
            <a:off x="6903720" y="2743200"/>
            <a:ext cx="2377440" cy="365760"/>
          </a:xfrm>
          <a:prstGeom prst="rect">
            <a:avLst/>
          </a:prstGeom>
          <a:noFill/>
          <a:ln/>
        </p:spPr>
        <p:txBody>
          <a:bodyPr wrap="square" lIns="0" tIns="0" rIns="0" bIns="0" rtlCol="0" anchor="ctr"/>
          <a:lstStyle/>
          <a:p>
            <a:pPr marL="0" indent="0">
              <a:buNone/>
            </a:pPr>
            <a:r>
              <a:rPr lang="en-US" sz="1300" dirty="0">
                <a:solidFill>
                  <a:srgbClr val="44577A"/>
                </a:solidFill>
                <a:latin typeface="Consolas" pitchFamily="34" charset="0"/>
                <a:ea typeface="Consolas" pitchFamily="34" charset="-122"/>
                <a:cs typeface="Consolas" pitchFamily="34" charset="-120"/>
              </a:rPr>
              <a:t>_aligned</a:t>
            </a:r>
            <a:endParaRPr lang="en-US" sz="1300" dirty="0"/>
          </a:p>
        </p:txBody>
      </p:sp>
      <p:sp>
        <p:nvSpPr>
          <p:cNvPr id="11" name="Text 9"/>
          <p:cNvSpPr/>
          <p:nvPr/>
        </p:nvSpPr>
        <p:spPr>
          <a:xfrm>
            <a:off x="9326880" y="2743200"/>
            <a:ext cx="1965960" cy="365760"/>
          </a:xfrm>
          <a:prstGeom prst="rect">
            <a:avLst/>
          </a:prstGeom>
          <a:noFill/>
          <a:ln/>
        </p:spPr>
        <p:txBody>
          <a:bodyPr wrap="square" lIns="0" tIns="0" rIns="0" bIns="0" rtlCol="0" anchor="ctr"/>
          <a:lstStyle/>
          <a:p>
            <a:pPr marL="0" indent="0" algn="r">
              <a:buNone/>
            </a:pPr>
            <a:r>
              <a:rPr lang="en-US" sz="1700" b="1" dirty="0">
                <a:solidFill>
                  <a:srgbClr val="D9661B"/>
                </a:solidFill>
                <a:latin typeface="Calibri" pitchFamily="34" charset="0"/>
                <a:ea typeface="Calibri" pitchFamily="34" charset="-122"/>
                <a:cs typeface="Calibri" pitchFamily="34" charset="-120"/>
              </a:rPr>
              <a:t>128</a:t>
            </a:r>
            <a:endParaRPr lang="en-US" sz="1700" dirty="0"/>
          </a:p>
        </p:txBody>
      </p:sp>
      <p:sp>
        <p:nvSpPr>
          <p:cNvPr id="12" name="Text 10"/>
          <p:cNvSpPr/>
          <p:nvPr/>
        </p:nvSpPr>
        <p:spPr>
          <a:xfrm>
            <a:off x="6903720" y="3273552"/>
            <a:ext cx="2377440" cy="365760"/>
          </a:xfrm>
          <a:prstGeom prst="rect">
            <a:avLst/>
          </a:prstGeom>
          <a:noFill/>
          <a:ln/>
        </p:spPr>
        <p:txBody>
          <a:bodyPr wrap="square" lIns="0" tIns="0" rIns="0" bIns="0" rtlCol="0" anchor="ctr"/>
          <a:lstStyle/>
          <a:p>
            <a:pPr marL="0" indent="0">
              <a:buNone/>
            </a:pPr>
            <a:r>
              <a:rPr lang="en-US" sz="1300" dirty="0">
                <a:solidFill>
                  <a:srgbClr val="44577A"/>
                </a:solidFill>
                <a:latin typeface="Consolas" pitchFamily="34" charset="0"/>
                <a:ea typeface="Consolas" pitchFamily="34" charset="-122"/>
                <a:cs typeface="Consolas" pitchFamily="34" charset="-120"/>
              </a:rPr>
              <a:t>_mp_spatial</a:t>
            </a:r>
            <a:endParaRPr lang="en-US" sz="1300" dirty="0"/>
          </a:p>
        </p:txBody>
      </p:sp>
      <p:sp>
        <p:nvSpPr>
          <p:cNvPr id="13" name="Text 11"/>
          <p:cNvSpPr/>
          <p:nvPr/>
        </p:nvSpPr>
        <p:spPr>
          <a:xfrm>
            <a:off x="9326880" y="3273552"/>
            <a:ext cx="1965960" cy="365760"/>
          </a:xfrm>
          <a:prstGeom prst="rect">
            <a:avLst/>
          </a:prstGeom>
          <a:noFill/>
          <a:ln/>
        </p:spPr>
        <p:txBody>
          <a:bodyPr wrap="square" lIns="0" tIns="0" rIns="0" bIns="0" rtlCol="0" anchor="ctr"/>
          <a:lstStyle/>
          <a:p>
            <a:pPr marL="0" indent="0" algn="r">
              <a:buNone/>
            </a:pPr>
            <a:r>
              <a:rPr lang="en-US" sz="1700" b="1" dirty="0">
                <a:solidFill>
                  <a:srgbClr val="B8860B"/>
                </a:solidFill>
                <a:latin typeface="Calibri" pitchFamily="34" charset="0"/>
                <a:ea typeface="Calibri" pitchFamily="34" charset="-122"/>
                <a:cs typeface="Calibri" pitchFamily="34" charset="-120"/>
              </a:rPr>
              <a:t>118</a:t>
            </a:r>
            <a:endParaRPr lang="en-US" sz="1700" dirty="0"/>
          </a:p>
        </p:txBody>
      </p:sp>
      <p:sp>
        <p:nvSpPr>
          <p:cNvPr id="14" name="Text 12"/>
          <p:cNvSpPr/>
          <p:nvPr/>
        </p:nvSpPr>
        <p:spPr>
          <a:xfrm>
            <a:off x="6903720" y="3803904"/>
            <a:ext cx="2377440" cy="365760"/>
          </a:xfrm>
          <a:prstGeom prst="rect">
            <a:avLst/>
          </a:prstGeom>
          <a:noFill/>
          <a:ln/>
        </p:spPr>
        <p:txBody>
          <a:bodyPr wrap="square" lIns="0" tIns="0" rIns="0" bIns="0" rtlCol="0" anchor="ctr"/>
          <a:lstStyle/>
          <a:p>
            <a:pPr marL="0" indent="0">
              <a:buNone/>
            </a:pPr>
            <a:r>
              <a:rPr lang="en-US" sz="1300" dirty="0">
                <a:solidFill>
                  <a:srgbClr val="44577A"/>
                </a:solidFill>
                <a:latin typeface="Consolas" pitchFamily="34" charset="0"/>
                <a:ea typeface="Consolas" pitchFamily="34" charset="-122"/>
                <a:cs typeface="Consolas" pitchFamily="34" charset="-120"/>
              </a:rPr>
              <a:t>_segment</a:t>
            </a:r>
            <a:endParaRPr lang="en-US" sz="1300" dirty="0"/>
          </a:p>
        </p:txBody>
      </p:sp>
      <p:sp>
        <p:nvSpPr>
          <p:cNvPr id="15" name="Text 13"/>
          <p:cNvSpPr/>
          <p:nvPr/>
        </p:nvSpPr>
        <p:spPr>
          <a:xfrm>
            <a:off x="9326880" y="3803904"/>
            <a:ext cx="1965960" cy="365760"/>
          </a:xfrm>
          <a:prstGeom prst="rect">
            <a:avLst/>
          </a:prstGeom>
          <a:noFill/>
          <a:ln/>
        </p:spPr>
        <p:txBody>
          <a:bodyPr wrap="square" lIns="0" tIns="0" rIns="0" bIns="0" rtlCol="0" anchor="ctr"/>
          <a:lstStyle/>
          <a:p>
            <a:pPr marL="0" indent="0" algn="r">
              <a:buNone/>
            </a:pPr>
            <a:r>
              <a:rPr lang="en-US" sz="1700" b="1" dirty="0">
                <a:solidFill>
                  <a:srgbClr val="0F9E76"/>
                </a:solidFill>
                <a:latin typeface="Calibri" pitchFamily="34" charset="0"/>
                <a:ea typeface="Calibri" pitchFamily="34" charset="-122"/>
                <a:cs typeface="Calibri" pitchFamily="34" charset="-120"/>
              </a:rPr>
              <a:t>0,34</a:t>
            </a:r>
            <a:endParaRPr lang="en-US" sz="1700" dirty="0"/>
          </a:p>
        </p:txBody>
      </p:sp>
      <p:sp>
        <p:nvSpPr>
          <p:cNvPr id="16" name="Text 14"/>
          <p:cNvSpPr/>
          <p:nvPr/>
        </p:nvSpPr>
        <p:spPr>
          <a:xfrm>
            <a:off x="6903720" y="4370832"/>
            <a:ext cx="4389120" cy="228600"/>
          </a:xfrm>
          <a:prstGeom prst="rect">
            <a:avLst/>
          </a:prstGeom>
          <a:noFill/>
          <a:ln/>
        </p:spPr>
        <p:txBody>
          <a:bodyPr wrap="square" lIns="0" tIns="0" rIns="0" bIns="0" rtlCol="0" anchor="ctr"/>
          <a:lstStyle/>
          <a:p>
            <a:pPr marL="0" indent="0">
              <a:buNone/>
            </a:pPr>
            <a:r>
              <a:rPr lang="en-US" sz="1050" dirty="0">
                <a:solidFill>
                  <a:srgbClr val="7D8AA2"/>
                </a:solidFill>
                <a:latin typeface="Calibri" pitchFamily="34" charset="0"/>
                <a:ea typeface="Calibri" pitchFamily="34" charset="-122"/>
                <a:cs typeface="Calibri" pitchFamily="34" charset="-120"/>
              </a:rPr>
              <a:t>Abweichung des Signals</a:t>
            </a:r>
            <a:endParaRPr lang="en-US" sz="1050" dirty="0"/>
          </a:p>
        </p:txBody>
      </p:sp>
      <p:sp>
        <p:nvSpPr>
          <p:cNvPr id="17" name="Shape 15"/>
          <p:cNvSpPr/>
          <p:nvPr/>
        </p:nvSpPr>
        <p:spPr>
          <a:xfrm>
            <a:off x="548640" y="4892040"/>
            <a:ext cx="11064240" cy="1207008"/>
          </a:xfrm>
          <a:prstGeom prst="roundRect">
            <a:avLst>
              <a:gd name="adj" fmla="val 10606"/>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8" name="Text 16"/>
          <p:cNvSpPr/>
          <p:nvPr/>
        </p:nvSpPr>
        <p:spPr>
          <a:xfrm>
            <a:off x="868680" y="5120640"/>
            <a:ext cx="10424160" cy="777240"/>
          </a:xfrm>
          <a:prstGeom prst="rect">
            <a:avLst/>
          </a:prstGeom>
          <a:noFill/>
          <a:ln/>
        </p:spPr>
        <p:txBody>
          <a:bodyPr wrap="square" lIns="0" tIns="0" rIns="0" bIns="0" rtlCol="0" anchor="ctr"/>
          <a:lstStyle/>
          <a:p>
            <a:pPr marL="0" indent="0">
              <a:lnSpc>
                <a:spcPts val="1900"/>
              </a:lnSpc>
              <a:buNone/>
            </a:pPr>
            <a:r>
              <a:rPr lang="en-US" sz="1450" dirty="0">
                <a:solidFill>
                  <a:srgbClr val="0F1E38"/>
                </a:solidFill>
                <a:latin typeface="Calibri" pitchFamily="34" charset="0"/>
                <a:ea typeface="Calibri" pitchFamily="34" charset="-122"/>
                <a:cs typeface="Calibri" pitchFamily="34" charset="-120"/>
              </a:rPr>
              <a:t>Damit ist die Bandlage aus der </a:t>
            </a:r>
            <a:r>
              <a:rPr lang="en-US" sz="1450" dirty="0" err="1">
                <a:solidFill>
                  <a:srgbClr val="0F1E38"/>
                </a:solidFill>
                <a:latin typeface="Calibri" pitchFamily="34" charset="0"/>
                <a:ea typeface="Calibri" pitchFamily="34" charset="-122"/>
                <a:cs typeface="Calibri" pitchFamily="34" charset="-120"/>
              </a:rPr>
              <a:t>Gleichung</a:t>
            </a:r>
            <a:r>
              <a:rPr lang="en-US" sz="1450" dirty="0">
                <a:solidFill>
                  <a:srgbClr val="0F1E38"/>
                </a:solidFill>
                <a:latin typeface="Calibri" pitchFamily="34" charset="0"/>
                <a:ea typeface="Calibri" pitchFamily="34" charset="-122"/>
                <a:cs typeface="Calibri" pitchFamily="34" charset="-120"/>
              </a:rPr>
              <a:t>, auf beiden Seiten. Weder müssen wir sie bei den echten Aufnahmen genau treffen, noch bei den synthetischen richtig raten.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ERGEBNIS</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Das Bezugssystem der Zielpose war der größte Hebel</a:t>
            </a:r>
            <a:endParaRPr lang="en-US" sz="3300" dirty="0"/>
          </a:p>
        </p:txBody>
      </p:sp>
      <p:graphicFrame>
        <p:nvGraphicFramePr>
          <p:cNvPr id="4" name="Chart 0"/>
          <p:cNvGraphicFramePr/>
          <p:nvPr/>
        </p:nvGraphicFramePr>
        <p:xfrm>
          <a:off x="502920" y="1463040"/>
          <a:ext cx="69494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81328"/>
            <a:ext cx="3977640" cy="1691640"/>
          </a:xfrm>
          <a:prstGeom prst="roundRect">
            <a:avLst>
              <a:gd name="adj" fmla="val 7568"/>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6" name="Text 3"/>
          <p:cNvSpPr/>
          <p:nvPr/>
        </p:nvSpPr>
        <p:spPr>
          <a:xfrm>
            <a:off x="7955280" y="1645920"/>
            <a:ext cx="3474720" cy="274320"/>
          </a:xfrm>
          <a:prstGeom prst="rect">
            <a:avLst/>
          </a:prstGeom>
          <a:noFill/>
          <a:ln/>
        </p:spPr>
        <p:txBody>
          <a:bodyPr wrap="square" lIns="0" tIns="0" rIns="0" bIns="0" rtlCol="0" anchor="ctr"/>
          <a:lstStyle/>
          <a:p>
            <a:pPr marL="0" indent="0">
              <a:buNone/>
            </a:pPr>
            <a:r>
              <a:rPr lang="en-US" sz="1250" b="1" dirty="0">
                <a:solidFill>
                  <a:srgbClr val="2F6FE0"/>
                </a:solidFill>
                <a:latin typeface="Calibri" pitchFamily="34" charset="0"/>
                <a:ea typeface="Calibri" pitchFamily="34" charset="-122"/>
                <a:cs typeface="Calibri" pitchFamily="34" charset="-120"/>
              </a:rPr>
              <a:t>PA-MPJPE</a:t>
            </a:r>
            <a:endParaRPr lang="en-US" sz="1250" dirty="0"/>
          </a:p>
        </p:txBody>
      </p:sp>
      <p:sp>
        <p:nvSpPr>
          <p:cNvPr id="7" name="Text 4"/>
          <p:cNvSpPr/>
          <p:nvPr/>
        </p:nvSpPr>
        <p:spPr>
          <a:xfrm>
            <a:off x="7955280" y="1956816"/>
            <a:ext cx="3474720" cy="384048"/>
          </a:xfrm>
          <a:prstGeom prst="rect">
            <a:avLst/>
          </a:prstGeom>
          <a:noFill/>
          <a:ln/>
        </p:spPr>
        <p:txBody>
          <a:bodyPr wrap="square" lIns="0" tIns="0" rIns="0" bIns="0" rtlCol="0" anchor="ctr"/>
          <a:lstStyle/>
          <a:p>
            <a:pPr marL="0" indent="0">
              <a:buNone/>
            </a:pPr>
            <a:r>
              <a:rPr lang="en-US" sz="1900" b="1" dirty="0">
                <a:solidFill>
                  <a:srgbClr val="0F1E38"/>
                </a:solidFill>
                <a:latin typeface="Calibri" pitchFamily="34" charset="0"/>
                <a:ea typeface="Calibri" pitchFamily="34" charset="-122"/>
                <a:cs typeface="Calibri" pitchFamily="34" charset="-120"/>
              </a:rPr>
              <a:t>70,6  gegen  77,7 mm</a:t>
            </a:r>
            <a:endParaRPr lang="en-US" sz="1900" dirty="0"/>
          </a:p>
        </p:txBody>
      </p:sp>
      <p:sp>
        <p:nvSpPr>
          <p:cNvPr id="8" name="Text 5"/>
          <p:cNvSpPr/>
          <p:nvPr/>
        </p:nvSpPr>
        <p:spPr>
          <a:xfrm>
            <a:off x="7955280" y="2395728"/>
            <a:ext cx="3474720" cy="685800"/>
          </a:xfrm>
          <a:prstGeom prst="rect">
            <a:avLst/>
          </a:prstGeom>
          <a:noFill/>
          <a:ln/>
        </p:spPr>
        <p:txBody>
          <a:bodyPr wrap="square" lIns="0" tIns="0" rIns="0" bIns="0" rtlCol="0" anchor="ctr"/>
          <a:lstStyle/>
          <a:p>
            <a:pPr marL="0" indent="0">
              <a:lnSpc>
                <a:spcPts val="1400"/>
              </a:lnSpc>
              <a:buNone/>
            </a:pPr>
            <a:r>
              <a:rPr lang="en-US" sz="1150" dirty="0">
                <a:solidFill>
                  <a:srgbClr val="44577A"/>
                </a:solidFill>
                <a:latin typeface="Calibri" pitchFamily="34" charset="0"/>
                <a:ea typeface="Calibri" pitchFamily="34" charset="-122"/>
                <a:cs typeface="Calibri" pitchFamily="34" charset="-120"/>
              </a:rPr>
              <a:t>rechnet die globale Drehung heraus und ist deshalb zwischen beiden Systemen direkt vergleichbar</a:t>
            </a:r>
            <a:endParaRPr lang="en-US" sz="1150" dirty="0"/>
          </a:p>
        </p:txBody>
      </p:sp>
      <p:sp>
        <p:nvSpPr>
          <p:cNvPr id="9" name="Shape 6"/>
          <p:cNvSpPr/>
          <p:nvPr/>
        </p:nvSpPr>
        <p:spPr>
          <a:xfrm>
            <a:off x="7680960" y="3364992"/>
            <a:ext cx="3977640" cy="2395728"/>
          </a:xfrm>
          <a:prstGeom prst="roundRect">
            <a:avLst>
              <a:gd name="adj" fmla="val 5344"/>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0" name="Text 7"/>
          <p:cNvSpPr/>
          <p:nvPr/>
        </p:nvSpPr>
        <p:spPr>
          <a:xfrm>
            <a:off x="7955280" y="3566160"/>
            <a:ext cx="3474720" cy="274320"/>
          </a:xfrm>
          <a:prstGeom prst="rect">
            <a:avLst/>
          </a:prstGeom>
          <a:noFill/>
          <a:ln/>
        </p:spPr>
        <p:txBody>
          <a:bodyPr wrap="square" lIns="0" tIns="0" rIns="0" bIns="0" rtlCol="0" anchor="ctr"/>
          <a:lstStyle/>
          <a:p>
            <a:pPr marL="0" indent="0">
              <a:buNone/>
            </a:pPr>
            <a:r>
              <a:rPr lang="en-US" sz="1250" b="1" dirty="0">
                <a:solidFill>
                  <a:srgbClr val="2F6FE0"/>
                </a:solidFill>
                <a:latin typeface="Calibri" pitchFamily="34" charset="0"/>
                <a:ea typeface="Calibri" pitchFamily="34" charset="-122"/>
                <a:cs typeface="Calibri" pitchFamily="34" charset="-120"/>
              </a:rPr>
              <a:t>Warum</a:t>
            </a:r>
            <a:endParaRPr lang="en-US" sz="1250" dirty="0"/>
          </a:p>
        </p:txBody>
      </p:sp>
      <p:sp>
        <p:nvSpPr>
          <p:cNvPr id="11" name="Text 8"/>
          <p:cNvSpPr/>
          <p:nvPr/>
        </p:nvSpPr>
        <p:spPr>
          <a:xfrm>
            <a:off x="7955280" y="3877056"/>
            <a:ext cx="3474720" cy="731520"/>
          </a:xfrm>
          <a:prstGeom prst="rect">
            <a:avLst/>
          </a:prstGeom>
          <a:noFill/>
          <a:ln/>
        </p:spPr>
        <p:txBody>
          <a:bodyPr wrap="square" lIns="0" tIns="0" rIns="0" bIns="0" rtlCol="0" anchor="ctr"/>
          <a:lstStyle/>
          <a:p>
            <a:pPr marL="0" indent="0">
              <a:lnSpc>
                <a:spcPts val="1600"/>
              </a:lnSpc>
              <a:buNone/>
            </a:pPr>
            <a:r>
              <a:rPr lang="en-US" sz="1250" dirty="0">
                <a:solidFill>
                  <a:srgbClr val="44577A"/>
                </a:solidFill>
                <a:latin typeface="Calibri" pitchFamily="34" charset="0"/>
                <a:ea typeface="Calibri" pitchFamily="34" charset="-122"/>
                <a:cs typeface="Calibri" pitchFamily="34" charset="-120"/>
              </a:rPr>
              <a:t>Die Hüften sitzen starr 99 mm vom Becken </a:t>
            </a:r>
            <a:r>
              <a:rPr lang="en-US" sz="1250" dirty="0" err="1">
                <a:solidFill>
                  <a:srgbClr val="44577A"/>
                </a:solidFill>
                <a:latin typeface="Calibri" pitchFamily="34" charset="0"/>
                <a:ea typeface="Calibri" pitchFamily="34" charset="-122"/>
                <a:cs typeface="Calibri" pitchFamily="34" charset="-120"/>
              </a:rPr>
              <a:t>entfernt</a:t>
            </a:r>
            <a:r>
              <a:rPr lang="en-US" sz="1250" dirty="0">
                <a:solidFill>
                  <a:srgbClr val="44577A"/>
                </a:solidFill>
                <a:latin typeface="Calibri" pitchFamily="34" charset="0"/>
                <a:ea typeface="Calibri" pitchFamily="34" charset="-122"/>
                <a:cs typeface="Calibri" pitchFamily="34" charset="-120"/>
              </a:rPr>
              <a:t>. Hatten im Weltsystem aber 58 mm Fehler.</a:t>
            </a:r>
            <a:endParaRPr lang="en-US" sz="1250" dirty="0"/>
          </a:p>
        </p:txBody>
      </p:sp>
      <p:sp>
        <p:nvSpPr>
          <p:cNvPr id="12" name="Text 9"/>
          <p:cNvSpPr/>
          <p:nvPr/>
        </p:nvSpPr>
        <p:spPr>
          <a:xfrm>
            <a:off x="7955280" y="4590288"/>
            <a:ext cx="1371600" cy="502920"/>
          </a:xfrm>
          <a:prstGeom prst="rect">
            <a:avLst/>
          </a:prstGeom>
          <a:noFill/>
          <a:ln/>
        </p:spPr>
        <p:txBody>
          <a:bodyPr wrap="square" lIns="0" tIns="0" rIns="0" bIns="0" rtlCol="0" anchor="ctr"/>
          <a:lstStyle/>
          <a:p>
            <a:pPr marL="0" indent="0">
              <a:buNone/>
            </a:pPr>
            <a:r>
              <a:rPr lang="en-US" sz="2700" b="1" dirty="0">
                <a:solidFill>
                  <a:srgbClr val="D9661B"/>
                </a:solidFill>
                <a:latin typeface="Calibri" pitchFamily="34" charset="0"/>
                <a:ea typeface="Calibri" pitchFamily="34" charset="-122"/>
                <a:cs typeface="Calibri" pitchFamily="34" charset="-120"/>
              </a:rPr>
              <a:t>≈ 31°</a:t>
            </a:r>
            <a:endParaRPr lang="en-US" sz="2700" dirty="0"/>
          </a:p>
        </p:txBody>
      </p:sp>
      <p:sp>
        <p:nvSpPr>
          <p:cNvPr id="13" name="Text 10"/>
          <p:cNvSpPr/>
          <p:nvPr/>
        </p:nvSpPr>
        <p:spPr>
          <a:xfrm>
            <a:off x="7955280" y="5120640"/>
            <a:ext cx="3474720" cy="548640"/>
          </a:xfrm>
          <a:prstGeom prst="rect">
            <a:avLst/>
          </a:prstGeom>
          <a:noFill/>
          <a:ln/>
        </p:spPr>
        <p:txBody>
          <a:bodyPr wrap="square" lIns="0" tIns="0" rIns="0" bIns="0" rtlCol="0" anchor="ctr"/>
          <a:lstStyle/>
          <a:p>
            <a:pPr marL="0" indent="0">
              <a:lnSpc>
                <a:spcPts val="1400"/>
              </a:lnSpc>
              <a:buNone/>
            </a:pPr>
            <a:r>
              <a:rPr lang="en-US" sz="1150" dirty="0">
                <a:solidFill>
                  <a:srgbClr val="44577A"/>
                </a:solidFill>
                <a:latin typeface="Calibri" pitchFamily="34" charset="0"/>
                <a:ea typeface="Calibri" pitchFamily="34" charset="-122"/>
                <a:cs typeface="Calibri" pitchFamily="34" charset="-120"/>
              </a:rPr>
              <a:t>Fehler in der Blickrichtung des Beckens — den erbt jedes Gelenk die Kette hinunter.</a:t>
            </a:r>
            <a:endParaRPr lang="en-US" sz="1150" dirty="0"/>
          </a:p>
        </p:txBody>
      </p:sp>
      <p:sp>
        <p:nvSpPr>
          <p:cNvPr id="14" name="Text 11"/>
          <p:cNvSpPr/>
          <p:nvPr/>
        </p:nvSpPr>
        <p:spPr>
          <a:xfrm>
            <a:off x="548640" y="5742432"/>
            <a:ext cx="6949440" cy="365760"/>
          </a:xfrm>
          <a:prstGeom prst="rect">
            <a:avLst/>
          </a:prstGeom>
          <a:noFill/>
          <a:ln/>
        </p:spPr>
        <p:txBody>
          <a:bodyPr wrap="square" lIns="0" tIns="0" rIns="0" bIns="0" rtlCol="0" anchor="ctr"/>
          <a:lstStyle/>
          <a:p>
            <a:pPr marL="0" indent="0">
              <a:buNone/>
            </a:pPr>
            <a:r>
              <a:rPr lang="en-US" sz="1350" b="1" dirty="0">
                <a:solidFill>
                  <a:srgbClr val="0F9E76"/>
                </a:solidFill>
                <a:latin typeface="Calibri" pitchFamily="34" charset="0"/>
                <a:ea typeface="Calibri" pitchFamily="34" charset="-122"/>
                <a:cs typeface="Calibri" pitchFamily="34" charset="-120"/>
              </a:rPr>
              <a:t>Relativer Gewinn gegenüber der trivialen Mittelpose:  6,1 %  →  13,4 %</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SYNTHETISCHE DATEN</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AMASS-Bewegungen als virtuelle AX6-Signale</a:t>
            </a:r>
            <a:endParaRPr lang="en-US" sz="3300" dirty="0"/>
          </a:p>
        </p:txBody>
      </p:sp>
      <p:sp>
        <p:nvSpPr>
          <p:cNvPr id="4" name="Shape 2"/>
          <p:cNvSpPr/>
          <p:nvPr/>
        </p:nvSpPr>
        <p:spPr>
          <a:xfrm>
            <a:off x="548640" y="1536192"/>
            <a:ext cx="5760720" cy="2606040"/>
          </a:xfrm>
          <a:prstGeom prst="roundRect">
            <a:avLst>
              <a:gd name="adj" fmla="val 491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Text 3"/>
          <p:cNvSpPr/>
          <p:nvPr/>
        </p:nvSpPr>
        <p:spPr>
          <a:xfrm>
            <a:off x="868680" y="1737360"/>
            <a:ext cx="5120640" cy="292608"/>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Wie erzeugt</a:t>
            </a:r>
            <a:endParaRPr lang="en-US" sz="1500" dirty="0"/>
          </a:p>
        </p:txBody>
      </p:sp>
      <p:sp>
        <p:nvSpPr>
          <p:cNvPr id="6" name="Text 4"/>
          <p:cNvSpPr/>
          <p:nvPr/>
        </p:nvSpPr>
        <p:spPr>
          <a:xfrm>
            <a:off x="868680" y="2121408"/>
            <a:ext cx="5120640" cy="187452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300" dirty="0">
                <a:solidFill>
                  <a:srgbClr val="44577A"/>
                </a:solidFill>
                <a:latin typeface="Calibri" pitchFamily="34" charset="0"/>
                <a:ea typeface="Calibri" pitchFamily="34" charset="-122"/>
                <a:cs typeface="Calibri" pitchFamily="34" charset="-120"/>
              </a:rPr>
              <a:t>Mocap-Sequenz → Skelett auf unsere Personen skaliert → Segmentsystem je Sensor</a:t>
            </a:r>
            <a:endParaRPr lang="en-US" sz="1300" dirty="0"/>
          </a:p>
          <a:p>
            <a:pPr marL="342900" indent="-342900">
              <a:lnSpc>
                <a:spcPts val="1700"/>
              </a:lnSpc>
              <a:spcAft>
                <a:spcPts val="600"/>
              </a:spcAft>
              <a:buSzPct val="100000"/>
              <a:buChar char="•"/>
            </a:pPr>
            <a:r>
              <a:rPr lang="en-US" sz="1300" dirty="0">
                <a:solidFill>
                  <a:srgbClr val="44577A"/>
                </a:solidFill>
                <a:latin typeface="Calibri" pitchFamily="34" charset="0"/>
                <a:ea typeface="Calibri" pitchFamily="34" charset="-122"/>
                <a:cs typeface="Calibri" pitchFamily="34" charset="-120"/>
              </a:rPr>
              <a:t>Spezifische Kraft und Drehrate aus der Bewegung abgeleitet</a:t>
            </a:r>
            <a:endParaRPr lang="en-US" sz="1300" dirty="0"/>
          </a:p>
          <a:p>
            <a:pPr marL="342900" indent="-342900">
              <a:lnSpc>
                <a:spcPts val="1700"/>
              </a:lnSpc>
              <a:spcAft>
                <a:spcPts val="600"/>
              </a:spcAft>
              <a:buSzPct val="100000"/>
              <a:buChar char="•"/>
            </a:pPr>
            <a:r>
              <a:rPr lang="en-US" sz="1300" dirty="0">
                <a:solidFill>
                  <a:srgbClr val="44577A"/>
                </a:solidFill>
                <a:latin typeface="Calibri" pitchFamily="34" charset="0"/>
                <a:ea typeface="Calibri" pitchFamily="34" charset="-122"/>
                <a:cs typeface="Calibri" pitchFamily="34" charset="-120"/>
              </a:rPr>
              <a:t>Rauschprofil aus den echten Aufnahmen gemessen und aufgeprägt: Achsenskalierung, Gyro-Nullpunkt, Drift, gefärbtes Rauschen, Quantisierung</a:t>
            </a:r>
            <a:endParaRPr lang="en-US" sz="1300" dirty="0"/>
          </a:p>
          <a:p>
            <a:pPr marL="342900" indent="-342900">
              <a:lnSpc>
                <a:spcPts val="1700"/>
              </a:lnSpc>
              <a:spcAft>
                <a:spcPts val="600"/>
              </a:spcAft>
              <a:buSzPct val="100000"/>
              <a:buChar char="•"/>
            </a:pPr>
            <a:r>
              <a:rPr lang="en-US" sz="1300" dirty="0">
                <a:solidFill>
                  <a:srgbClr val="44577A"/>
                </a:solidFill>
                <a:latin typeface="Calibri" pitchFamily="34" charset="0"/>
                <a:ea typeface="Calibri" pitchFamily="34" charset="-122"/>
                <a:cs typeface="Calibri" pitchFamily="34" charset="-120"/>
              </a:rPr>
              <a:t>Bandlage je Aufnahme neu ausgewürfelt</a:t>
            </a:r>
            <a:endParaRPr lang="en-US" sz="1300" dirty="0"/>
          </a:p>
        </p:txBody>
      </p:sp>
      <p:sp>
        <p:nvSpPr>
          <p:cNvPr id="7" name="Shape 5"/>
          <p:cNvSpPr/>
          <p:nvPr/>
        </p:nvSpPr>
        <p:spPr>
          <a:xfrm>
            <a:off x="6537960" y="1536192"/>
            <a:ext cx="5074920" cy="2606040"/>
          </a:xfrm>
          <a:prstGeom prst="roundRect">
            <a:avLst>
              <a:gd name="adj" fmla="val 4912"/>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8" name="Text 6"/>
          <p:cNvSpPr/>
          <p:nvPr/>
        </p:nvSpPr>
        <p:spPr>
          <a:xfrm>
            <a:off x="6858000" y="1737360"/>
            <a:ext cx="4434840" cy="292608"/>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Wie geprüft</a:t>
            </a:r>
            <a:endParaRPr lang="en-US" sz="1500" dirty="0"/>
          </a:p>
        </p:txBody>
      </p:sp>
      <p:sp>
        <p:nvSpPr>
          <p:cNvPr id="9" name="Text 7"/>
          <p:cNvSpPr/>
          <p:nvPr/>
        </p:nvSpPr>
        <p:spPr>
          <a:xfrm>
            <a:off x="6858000" y="2121408"/>
            <a:ext cx="4434840" cy="1143000"/>
          </a:xfrm>
          <a:prstGeom prst="rect">
            <a:avLst/>
          </a:prstGeom>
          <a:noFill/>
          <a:ln/>
        </p:spPr>
        <p:txBody>
          <a:bodyPr wrap="square" lIns="0" tIns="0" rIns="0" bIns="0" rtlCol="0" anchor="ctr"/>
          <a:lstStyle/>
          <a:p>
            <a:pPr marL="0" indent="0">
              <a:lnSpc>
                <a:spcPts val="1700"/>
              </a:lnSpc>
              <a:buNone/>
            </a:pPr>
            <a:r>
              <a:rPr lang="en-US" sz="1300" dirty="0">
                <a:solidFill>
                  <a:srgbClr val="44577A"/>
                </a:solidFill>
                <a:latin typeface="Calibri" pitchFamily="34" charset="0"/>
                <a:ea typeface="Calibri" pitchFamily="34" charset="-122"/>
                <a:cs typeface="Calibri" pitchFamily="34" charset="-120"/>
              </a:rPr>
              <a:t>Der Maßstab ist nicht »nah an echt«, sondern: wie weit sind zwei echte Aufnahmen voneinander entfernt? Diese Streuung muss das Modell ohnehin überbrücken.</a:t>
            </a:r>
            <a:endParaRPr lang="en-US" sz="1300" dirty="0"/>
          </a:p>
        </p:txBody>
      </p:sp>
      <p:sp>
        <p:nvSpPr>
          <p:cNvPr id="10" name="Text 8"/>
          <p:cNvSpPr/>
          <p:nvPr/>
        </p:nvSpPr>
        <p:spPr>
          <a:xfrm>
            <a:off x="6858000" y="3401568"/>
            <a:ext cx="4434840" cy="548640"/>
          </a:xfrm>
          <a:prstGeom prst="rect">
            <a:avLst/>
          </a:prstGeom>
          <a:noFill/>
          <a:ln/>
        </p:spPr>
        <p:txBody>
          <a:bodyPr wrap="square" lIns="0" tIns="0" rIns="0" bIns="0" rtlCol="0" anchor="ctr"/>
          <a:lstStyle/>
          <a:p>
            <a:pPr marL="0" indent="0">
              <a:lnSpc>
                <a:spcPts val="1600"/>
              </a:lnSpc>
              <a:buNone/>
            </a:pPr>
            <a:r>
              <a:rPr lang="en-US" sz="1250" dirty="0">
                <a:solidFill>
                  <a:srgbClr val="7D8AA2"/>
                </a:solidFill>
                <a:latin typeface="Calibri" pitchFamily="34" charset="0"/>
                <a:ea typeface="Calibri" pitchFamily="34" charset="-122"/>
                <a:cs typeface="Calibri" pitchFamily="34" charset="-120"/>
              </a:rPr>
              <a:t>Verglichen in den 48 Merkmalen, die das Netz tatsächlich sieht.</a:t>
            </a:r>
            <a:endParaRPr lang="en-US" sz="1250" dirty="0"/>
          </a:p>
        </p:txBody>
      </p:sp>
      <p:sp>
        <p:nvSpPr>
          <p:cNvPr id="11" name="Shape 9"/>
          <p:cNvSpPr/>
          <p:nvPr/>
        </p:nvSpPr>
        <p:spPr>
          <a:xfrm>
            <a:off x="548640" y="4370832"/>
            <a:ext cx="11064240" cy="1737360"/>
          </a:xfrm>
          <a:prstGeom prst="roundRect">
            <a:avLst>
              <a:gd name="adj" fmla="val 7368"/>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2" name="Text 10"/>
          <p:cNvSpPr/>
          <p:nvPr/>
        </p:nvSpPr>
        <p:spPr>
          <a:xfrm>
            <a:off x="868680" y="4553712"/>
            <a:ext cx="2377440" cy="713232"/>
          </a:xfrm>
          <a:prstGeom prst="rect">
            <a:avLst/>
          </a:prstGeom>
          <a:noFill/>
          <a:ln/>
        </p:spPr>
        <p:txBody>
          <a:bodyPr wrap="square" lIns="0" tIns="0" rIns="0" bIns="0" rtlCol="0" anchor="ctr"/>
          <a:lstStyle/>
          <a:p>
            <a:pPr marL="0" indent="0" algn="ctr">
              <a:buNone/>
            </a:pPr>
            <a:r>
              <a:rPr lang="en-US" sz="4000" b="1" dirty="0">
                <a:solidFill>
                  <a:srgbClr val="2F6FE0"/>
                </a:solidFill>
                <a:latin typeface="Calibri" pitchFamily="34" charset="0"/>
                <a:ea typeface="Calibri" pitchFamily="34" charset="-122"/>
                <a:cs typeface="Calibri" pitchFamily="34" charset="-120"/>
              </a:rPr>
              <a:t>0,22 σ</a:t>
            </a:r>
            <a:endParaRPr lang="en-US" sz="4000" dirty="0"/>
          </a:p>
        </p:txBody>
      </p:sp>
      <p:sp>
        <p:nvSpPr>
          <p:cNvPr id="13" name="Text 11"/>
          <p:cNvSpPr/>
          <p:nvPr/>
        </p:nvSpPr>
        <p:spPr>
          <a:xfrm>
            <a:off x="868680" y="5248656"/>
            <a:ext cx="237744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synthetisch gegen echt</a:t>
            </a:r>
            <a:endParaRPr lang="en-US" sz="1250" dirty="0"/>
          </a:p>
          <a:p>
            <a:pPr marL="0" indent="0" algn="ctr">
              <a:buNone/>
            </a:pPr>
            <a:r>
              <a:rPr lang="en-US" sz="1250" dirty="0">
                <a:solidFill>
                  <a:srgbClr val="44577A"/>
                </a:solidFill>
                <a:latin typeface="Calibri" pitchFamily="34" charset="0"/>
                <a:ea typeface="Calibri" pitchFamily="34" charset="-122"/>
                <a:cs typeface="Calibri" pitchFamily="34" charset="-120"/>
              </a:rPr>
              <a:t>(Median über 48 Merkmale)</a:t>
            </a:r>
            <a:endParaRPr lang="en-US" sz="1250" dirty="0"/>
          </a:p>
        </p:txBody>
      </p:sp>
      <p:sp>
        <p:nvSpPr>
          <p:cNvPr id="14" name="Text 12"/>
          <p:cNvSpPr/>
          <p:nvPr/>
        </p:nvSpPr>
        <p:spPr>
          <a:xfrm>
            <a:off x="3429000" y="4553712"/>
            <a:ext cx="2377440" cy="713232"/>
          </a:xfrm>
          <a:prstGeom prst="rect">
            <a:avLst/>
          </a:prstGeom>
          <a:noFill/>
          <a:ln/>
        </p:spPr>
        <p:txBody>
          <a:bodyPr wrap="square" lIns="0" tIns="0" rIns="0" bIns="0" rtlCol="0" anchor="ctr"/>
          <a:lstStyle/>
          <a:p>
            <a:pPr marL="0" indent="0" algn="ctr">
              <a:buNone/>
            </a:pPr>
            <a:r>
              <a:rPr lang="en-US" sz="4000" b="1" dirty="0">
                <a:solidFill>
                  <a:srgbClr val="7D8AA2"/>
                </a:solidFill>
                <a:latin typeface="Calibri" pitchFamily="34" charset="0"/>
                <a:ea typeface="Calibri" pitchFamily="34" charset="-122"/>
                <a:cs typeface="Calibri" pitchFamily="34" charset="-120"/>
              </a:rPr>
              <a:t>0,22 σ</a:t>
            </a:r>
            <a:endParaRPr lang="en-US" sz="4000" dirty="0"/>
          </a:p>
        </p:txBody>
      </p:sp>
      <p:sp>
        <p:nvSpPr>
          <p:cNvPr id="15" name="Text 13"/>
          <p:cNvSpPr/>
          <p:nvPr/>
        </p:nvSpPr>
        <p:spPr>
          <a:xfrm>
            <a:off x="3429000" y="5248656"/>
            <a:ext cx="237744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echte Aufnahme gegen</a:t>
            </a:r>
            <a:endParaRPr lang="en-US" sz="1250" dirty="0"/>
          </a:p>
          <a:p>
            <a:pPr marL="0" indent="0" algn="ctr">
              <a:buNone/>
            </a:pPr>
            <a:r>
              <a:rPr lang="en-US" sz="1250" dirty="0">
                <a:solidFill>
                  <a:srgbClr val="44577A"/>
                </a:solidFill>
                <a:latin typeface="Calibri" pitchFamily="34" charset="0"/>
                <a:ea typeface="Calibri" pitchFamily="34" charset="-122"/>
                <a:cs typeface="Calibri" pitchFamily="34" charset="-120"/>
              </a:rPr>
              <a:t>echte Aufnahme</a:t>
            </a:r>
            <a:endParaRPr lang="en-US" sz="1250" dirty="0"/>
          </a:p>
        </p:txBody>
      </p:sp>
      <p:sp>
        <p:nvSpPr>
          <p:cNvPr id="16" name="Text 14"/>
          <p:cNvSpPr/>
          <p:nvPr/>
        </p:nvSpPr>
        <p:spPr>
          <a:xfrm>
            <a:off x="5989320" y="4553712"/>
            <a:ext cx="2377440" cy="713232"/>
          </a:xfrm>
          <a:prstGeom prst="rect">
            <a:avLst/>
          </a:prstGeom>
          <a:noFill/>
          <a:ln/>
        </p:spPr>
        <p:txBody>
          <a:bodyPr wrap="square" lIns="0" tIns="0" rIns="0" bIns="0" rtlCol="0" anchor="ctr"/>
          <a:lstStyle/>
          <a:p>
            <a:pPr marL="0" indent="0" algn="ctr">
              <a:buNone/>
            </a:pPr>
            <a:r>
              <a:rPr lang="en-US" sz="4000" b="1" dirty="0">
                <a:solidFill>
                  <a:srgbClr val="0F9E76"/>
                </a:solidFill>
                <a:latin typeface="Calibri" pitchFamily="34" charset="0"/>
                <a:ea typeface="Calibri" pitchFamily="34" charset="-122"/>
                <a:cs typeface="Calibri" pitchFamily="34" charset="-120"/>
              </a:rPr>
              <a:t>69 %</a:t>
            </a:r>
            <a:endParaRPr lang="en-US" sz="4000" dirty="0"/>
          </a:p>
        </p:txBody>
      </p:sp>
      <p:sp>
        <p:nvSpPr>
          <p:cNvPr id="17" name="Text 15"/>
          <p:cNvSpPr/>
          <p:nvPr/>
        </p:nvSpPr>
        <p:spPr>
          <a:xfrm>
            <a:off x="5989320" y="5248656"/>
            <a:ext cx="237744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der Merkmale liegen näher</a:t>
            </a:r>
            <a:endParaRPr lang="en-US" sz="1250" dirty="0"/>
          </a:p>
          <a:p>
            <a:pPr marL="0" indent="0" algn="ctr">
              <a:buNone/>
            </a:pPr>
            <a:r>
              <a:rPr lang="en-US" sz="1250" dirty="0">
                <a:solidFill>
                  <a:srgbClr val="44577A"/>
                </a:solidFill>
                <a:latin typeface="Calibri" pitchFamily="34" charset="0"/>
                <a:ea typeface="Calibri" pitchFamily="34" charset="-122"/>
                <a:cs typeface="Calibri" pitchFamily="34" charset="-120"/>
              </a:rPr>
              <a:t>als zwei echte Aufnahmen</a:t>
            </a:r>
            <a:endParaRPr lang="en-US" sz="1250" dirty="0"/>
          </a:p>
        </p:txBody>
      </p:sp>
      <p:sp>
        <p:nvSpPr>
          <p:cNvPr id="18" name="Text 16"/>
          <p:cNvSpPr/>
          <p:nvPr/>
        </p:nvSpPr>
        <p:spPr>
          <a:xfrm>
            <a:off x="8641080" y="4553712"/>
            <a:ext cx="2651760" cy="713232"/>
          </a:xfrm>
          <a:prstGeom prst="rect">
            <a:avLst/>
          </a:prstGeom>
          <a:noFill/>
          <a:ln/>
        </p:spPr>
        <p:txBody>
          <a:bodyPr wrap="square" lIns="0" tIns="0" rIns="0" bIns="0" rtlCol="0" anchor="ctr"/>
          <a:lstStyle/>
          <a:p>
            <a:pPr marL="0" indent="0" algn="ctr">
              <a:buNone/>
            </a:pPr>
            <a:r>
              <a:rPr lang="en-US" sz="4000" b="1" dirty="0">
                <a:solidFill>
                  <a:srgbClr val="D9661B"/>
                </a:solidFill>
                <a:latin typeface="Calibri" pitchFamily="34" charset="0"/>
                <a:ea typeface="Calibri" pitchFamily="34" charset="-122"/>
                <a:cs typeface="Calibri" pitchFamily="34" charset="-120"/>
              </a:rPr>
              <a:t>4,1 h</a:t>
            </a:r>
            <a:endParaRPr lang="en-US" sz="4000" dirty="0"/>
          </a:p>
        </p:txBody>
      </p:sp>
      <p:sp>
        <p:nvSpPr>
          <p:cNvPr id="19" name="Text 17"/>
          <p:cNvSpPr/>
          <p:nvPr/>
        </p:nvSpPr>
        <p:spPr>
          <a:xfrm>
            <a:off x="8641080" y="5248656"/>
            <a:ext cx="2651760" cy="566928"/>
          </a:xfrm>
          <a:prstGeom prst="rect">
            <a:avLst/>
          </a:prstGeom>
          <a:noFill/>
          <a:ln/>
        </p:spPr>
        <p:txBody>
          <a:bodyPr wrap="square" lIns="0" tIns="0" rIns="0" bIns="0" rtlCol="0" anchor="ctr"/>
          <a:lstStyle/>
          <a:p>
            <a:pPr marL="0" indent="0" algn="ctr">
              <a:buNone/>
            </a:pPr>
            <a:r>
              <a:rPr lang="en-US" sz="1250" dirty="0">
                <a:solidFill>
                  <a:srgbClr val="44577A"/>
                </a:solidFill>
                <a:latin typeface="Calibri" pitchFamily="34" charset="0"/>
                <a:ea typeface="Calibri" pitchFamily="34" charset="-122"/>
                <a:cs typeface="Calibri" pitchFamily="34" charset="-120"/>
              </a:rPr>
              <a:t>synthetisch gegen</a:t>
            </a:r>
            <a:endParaRPr lang="en-US" sz="1250" dirty="0"/>
          </a:p>
          <a:p>
            <a:pPr marL="0" indent="0" algn="ctr">
              <a:buNone/>
            </a:pPr>
            <a:r>
              <a:rPr lang="en-US" sz="1250" dirty="0">
                <a:solidFill>
                  <a:srgbClr val="44577A"/>
                </a:solidFill>
                <a:latin typeface="Calibri" pitchFamily="34" charset="0"/>
                <a:ea typeface="Calibri" pitchFamily="34" charset="-122"/>
                <a:cs typeface="Calibri" pitchFamily="34" charset="-120"/>
              </a:rPr>
              <a:t>rund 1 h echt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ERGEBNIS</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Bringt das Vortraining etwas?</a:t>
            </a:r>
            <a:endParaRPr lang="en-US" sz="3300" dirty="0"/>
          </a:p>
        </p:txBody>
      </p:sp>
      <p:sp>
        <p:nvSpPr>
          <p:cNvPr id="4" name="Shape 2"/>
          <p:cNvSpPr/>
          <p:nvPr/>
        </p:nvSpPr>
        <p:spPr>
          <a:xfrm>
            <a:off x="548640" y="1481328"/>
            <a:ext cx="5074920" cy="2240280"/>
          </a:xfrm>
          <a:prstGeom prst="roundRect">
            <a:avLst>
              <a:gd name="adj" fmla="val 5714"/>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Text 3"/>
          <p:cNvSpPr/>
          <p:nvPr/>
        </p:nvSpPr>
        <p:spPr>
          <a:xfrm>
            <a:off x="868680" y="1700784"/>
            <a:ext cx="4480560" cy="292608"/>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Der Versuchsaufbau</a:t>
            </a:r>
            <a:endParaRPr lang="en-US" sz="1500" dirty="0"/>
          </a:p>
        </p:txBody>
      </p:sp>
      <p:sp>
        <p:nvSpPr>
          <p:cNvPr id="6" name="Text 4"/>
          <p:cNvSpPr/>
          <p:nvPr/>
        </p:nvSpPr>
        <p:spPr>
          <a:xfrm>
            <a:off x="868680" y="2103120"/>
            <a:ext cx="4480560" cy="1508760"/>
          </a:xfrm>
          <a:prstGeom prst="rect">
            <a:avLst/>
          </a:prstGeom>
          <a:noFill/>
          <a:ln/>
        </p:spPr>
        <p:txBody>
          <a:bodyPr wrap="square" lIns="0" tIns="0" rIns="0" bIns="0" rtlCol="0" anchor="ctr"/>
          <a:lstStyle/>
          <a:p>
            <a:pPr marL="0" indent="0">
              <a:lnSpc>
                <a:spcPts val="1700"/>
              </a:lnSpc>
              <a:buNone/>
            </a:pPr>
            <a:r>
              <a:rPr lang="en-US" sz="1300" dirty="0">
                <a:solidFill>
                  <a:srgbClr val="44577A"/>
                </a:solidFill>
                <a:latin typeface="Calibri" pitchFamily="34" charset="0"/>
                <a:ea typeface="Calibri" pitchFamily="34" charset="-122"/>
                <a:cs typeface="Calibri" pitchFamily="34" charset="-120"/>
              </a:rPr>
              <a:t>Der Unterschied liegt bei ein bis </a:t>
            </a:r>
            <a:r>
              <a:rPr lang="en-US" sz="1300" dirty="0" err="1">
                <a:solidFill>
                  <a:srgbClr val="44577A"/>
                </a:solidFill>
                <a:latin typeface="Calibri" pitchFamily="34" charset="0"/>
                <a:ea typeface="Calibri" pitchFamily="34" charset="-122"/>
                <a:cs typeface="Calibri" pitchFamily="34" charset="-120"/>
              </a:rPr>
              <a:t>zwei</a:t>
            </a:r>
            <a:r>
              <a:rPr lang="en-US" sz="1300" dirty="0">
                <a:solidFill>
                  <a:srgbClr val="44577A"/>
                </a:solidFill>
                <a:latin typeface="Calibri" pitchFamily="34" charset="0"/>
                <a:ea typeface="Calibri" pitchFamily="34" charset="-122"/>
                <a:cs typeface="Calibri" pitchFamily="34" charset="-120"/>
              </a:rPr>
              <a:t> </a:t>
            </a:r>
            <a:r>
              <a:rPr lang="en-US" sz="1300" dirty="0" err="1">
                <a:solidFill>
                  <a:srgbClr val="44577A"/>
                </a:solidFill>
                <a:latin typeface="Calibri" pitchFamily="34" charset="0"/>
                <a:ea typeface="Calibri" pitchFamily="34" charset="-122"/>
                <a:cs typeface="Calibri" pitchFamily="34" charset="-120"/>
              </a:rPr>
              <a:t>Millimetern</a:t>
            </a:r>
            <a:r>
              <a:rPr lang="en-US" sz="1300" dirty="0">
                <a:solidFill>
                  <a:srgbClr val="44577A"/>
                </a:solidFill>
                <a:latin typeface="Calibri" pitchFamily="34" charset="0"/>
                <a:ea typeface="Calibri" pitchFamily="34" charset="-122"/>
                <a:cs typeface="Calibri" pitchFamily="34" charset="-120"/>
              </a:rPr>
              <a:t>, </a:t>
            </a:r>
            <a:r>
              <a:rPr lang="en-US" sz="1300" dirty="0" err="1">
                <a:solidFill>
                  <a:srgbClr val="44577A"/>
                </a:solidFill>
                <a:latin typeface="Calibri" pitchFamily="34" charset="0"/>
                <a:ea typeface="Calibri" pitchFamily="34" charset="-122"/>
                <a:cs typeface="Calibri" pitchFamily="34" charset="-120"/>
              </a:rPr>
              <a:t>genauso</a:t>
            </a:r>
            <a:r>
              <a:rPr lang="en-US" sz="1300" dirty="0">
                <a:solidFill>
                  <a:srgbClr val="44577A"/>
                </a:solidFill>
                <a:latin typeface="Calibri" pitchFamily="34" charset="0"/>
                <a:ea typeface="Calibri" pitchFamily="34" charset="-122"/>
                <a:cs typeface="Calibri" pitchFamily="34" charset="-120"/>
              </a:rPr>
              <a:t> groß wie die Streuung zwischen zwei Läufen. Deshalb paarweise: 3 Seeds × 6 Testaufnahmen = 18 Paare, jedes Paar mit und ohne Vortraining.</a:t>
            </a:r>
            <a:endParaRPr lang="en-US" sz="1300" dirty="0"/>
          </a:p>
        </p:txBody>
      </p:sp>
      <p:sp>
        <p:nvSpPr>
          <p:cNvPr id="7" name="Shape 5"/>
          <p:cNvSpPr/>
          <p:nvPr/>
        </p:nvSpPr>
        <p:spPr>
          <a:xfrm>
            <a:off x="548640" y="3931920"/>
            <a:ext cx="5074920" cy="2176272"/>
          </a:xfrm>
          <a:prstGeom prst="roundRect">
            <a:avLst>
              <a:gd name="adj" fmla="val 5882"/>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8" name="Text 6"/>
          <p:cNvSpPr/>
          <p:nvPr/>
        </p:nvSpPr>
        <p:spPr>
          <a:xfrm>
            <a:off x="868680" y="4114800"/>
            <a:ext cx="2468880" cy="640080"/>
          </a:xfrm>
          <a:prstGeom prst="rect">
            <a:avLst/>
          </a:prstGeom>
          <a:noFill/>
          <a:ln/>
        </p:spPr>
        <p:txBody>
          <a:bodyPr wrap="square" lIns="0" tIns="0" rIns="0" bIns="0" rtlCol="0" anchor="ctr"/>
          <a:lstStyle/>
          <a:p>
            <a:pPr marL="0" indent="0">
              <a:buNone/>
            </a:pPr>
            <a:r>
              <a:rPr lang="en-US" sz="3400" b="1" dirty="0">
                <a:solidFill>
                  <a:srgbClr val="0F9E76"/>
                </a:solidFill>
                <a:latin typeface="Calibri" pitchFamily="34" charset="0"/>
                <a:ea typeface="Calibri" pitchFamily="34" charset="-122"/>
                <a:cs typeface="Calibri" pitchFamily="34" charset="-120"/>
              </a:rPr>
              <a:t>−2,86 mm</a:t>
            </a:r>
            <a:endParaRPr lang="en-US" sz="3400" dirty="0"/>
          </a:p>
        </p:txBody>
      </p:sp>
      <p:sp>
        <p:nvSpPr>
          <p:cNvPr id="9" name="Text 7"/>
          <p:cNvSpPr/>
          <p:nvPr/>
        </p:nvSpPr>
        <p:spPr>
          <a:xfrm>
            <a:off x="868680" y="4754880"/>
            <a:ext cx="2468880" cy="256032"/>
          </a:xfrm>
          <a:prstGeom prst="rect">
            <a:avLst/>
          </a:prstGeom>
          <a:noFill/>
          <a:ln/>
        </p:spPr>
        <p:txBody>
          <a:bodyPr wrap="square" lIns="0" tIns="0" rIns="0" bIns="0" rtlCol="0" anchor="ctr"/>
          <a:lstStyle/>
          <a:p>
            <a:pPr marL="0" indent="0">
              <a:buNone/>
            </a:pPr>
            <a:r>
              <a:rPr lang="en-US" sz="1200" dirty="0">
                <a:solidFill>
                  <a:srgbClr val="7D8AA2"/>
                </a:solidFill>
                <a:latin typeface="Calibri" pitchFamily="34" charset="0"/>
                <a:ea typeface="Calibri" pitchFamily="34" charset="-122"/>
                <a:cs typeface="Calibri" pitchFamily="34" charset="-120"/>
              </a:rPr>
              <a:t>MPJPE</a:t>
            </a:r>
            <a:endParaRPr lang="en-US" sz="1200" dirty="0"/>
          </a:p>
        </p:txBody>
      </p:sp>
      <p:sp>
        <p:nvSpPr>
          <p:cNvPr id="10" name="Text 8"/>
          <p:cNvSpPr/>
          <p:nvPr/>
        </p:nvSpPr>
        <p:spPr>
          <a:xfrm>
            <a:off x="3429000" y="4187952"/>
            <a:ext cx="2011680" cy="64008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95-%-Intervall</a:t>
            </a:r>
            <a:endParaRPr lang="en-US" sz="1250" dirty="0"/>
          </a:p>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[−4,35;  −1,42]</a:t>
            </a:r>
            <a:endParaRPr lang="en-US" sz="1250" dirty="0"/>
          </a:p>
        </p:txBody>
      </p:sp>
      <p:sp>
        <p:nvSpPr>
          <p:cNvPr id="11" name="Text 9"/>
          <p:cNvSpPr/>
          <p:nvPr/>
        </p:nvSpPr>
        <p:spPr>
          <a:xfrm>
            <a:off x="3429000" y="4846320"/>
            <a:ext cx="2011680" cy="384048"/>
          </a:xfrm>
          <a:prstGeom prst="rect">
            <a:avLst/>
          </a:prstGeom>
          <a:noFill/>
          <a:ln/>
        </p:spPr>
        <p:txBody>
          <a:bodyPr wrap="square" lIns="0" tIns="0" rIns="0" bIns="0" rtlCol="0" anchor="ctr"/>
          <a:lstStyle/>
          <a:p>
            <a:pPr marL="0" indent="0">
              <a:lnSpc>
                <a:spcPts val="1500"/>
              </a:lnSpc>
              <a:buNone/>
            </a:pPr>
            <a:r>
              <a:rPr lang="en-US" sz="1150" dirty="0">
                <a:solidFill>
                  <a:srgbClr val="44577A"/>
                </a:solidFill>
                <a:latin typeface="Calibri" pitchFamily="34" charset="0"/>
                <a:ea typeface="Calibri" pitchFamily="34" charset="-122"/>
                <a:cs typeface="Calibri" pitchFamily="34" charset="-120"/>
              </a:rPr>
              <a:t>besser in 16 von 18 Paaren</a:t>
            </a:r>
            <a:endParaRPr lang="en-US" sz="1150" dirty="0"/>
          </a:p>
        </p:txBody>
      </p:sp>
      <p:sp>
        <p:nvSpPr>
          <p:cNvPr id="12" name="Text 10"/>
          <p:cNvSpPr/>
          <p:nvPr/>
        </p:nvSpPr>
        <p:spPr>
          <a:xfrm>
            <a:off x="868680" y="5358384"/>
            <a:ext cx="4480560" cy="548640"/>
          </a:xfrm>
          <a:prstGeom prst="rect">
            <a:avLst/>
          </a:prstGeom>
          <a:noFill/>
          <a:ln/>
        </p:spPr>
        <p:txBody>
          <a:bodyPr wrap="square" lIns="0" tIns="0" rIns="0" bIns="0" rtlCol="0" anchor="ctr"/>
          <a:lstStyle/>
          <a:p>
            <a:pPr marL="0" indent="0">
              <a:lnSpc>
                <a:spcPts val="1500"/>
              </a:lnSpc>
              <a:buNone/>
            </a:pPr>
            <a:r>
              <a:rPr lang="en-US" sz="1200" dirty="0">
                <a:solidFill>
                  <a:srgbClr val="44577A"/>
                </a:solidFill>
                <a:latin typeface="Calibri" pitchFamily="34" charset="0"/>
                <a:ea typeface="Calibri" pitchFamily="34" charset="-122"/>
                <a:cs typeface="Calibri" pitchFamily="34" charset="-120"/>
              </a:rPr>
              <a:t>PA-MPJPE −2,09  ·  PCK@100 +0,89 — beide Intervalle schließen die Null ebenfalls aus.</a:t>
            </a:r>
            <a:endParaRPr lang="en-US" sz="1200" dirty="0"/>
          </a:p>
        </p:txBody>
      </p:sp>
      <p:graphicFrame>
        <p:nvGraphicFramePr>
          <p:cNvPr id="13" name="Chart 0"/>
          <p:cNvGraphicFramePr/>
          <p:nvPr/>
        </p:nvGraphicFramePr>
        <p:xfrm>
          <a:off x="5943600" y="1481328"/>
          <a:ext cx="5669280" cy="462686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WAS NICHT FUNKTIONIERT HAT</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Drei Befunde gegen die Erwartung</a:t>
            </a:r>
            <a:endParaRPr lang="en-US" sz="3300" dirty="0"/>
          </a:p>
        </p:txBody>
      </p:sp>
      <p:sp>
        <p:nvSpPr>
          <p:cNvPr id="4" name="Shape 2"/>
          <p:cNvSpPr/>
          <p:nvPr/>
        </p:nvSpPr>
        <p:spPr>
          <a:xfrm>
            <a:off x="548640" y="1536192"/>
            <a:ext cx="3566160" cy="4572000"/>
          </a:xfrm>
          <a:prstGeom prst="roundRect">
            <a:avLst>
              <a:gd name="adj" fmla="val 3590"/>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Shape 3"/>
          <p:cNvSpPr/>
          <p:nvPr/>
        </p:nvSpPr>
        <p:spPr>
          <a:xfrm>
            <a:off x="841248" y="1783080"/>
            <a:ext cx="365760" cy="365760"/>
          </a:xfrm>
          <a:prstGeom prst="ellipse">
            <a:avLst/>
          </a:prstGeom>
          <a:solidFill>
            <a:srgbClr val="D9661B"/>
          </a:solidFill>
          <a:ln/>
        </p:spPr>
        <p:txBody>
          <a:bodyPr/>
          <a:lstStyle/>
          <a:p>
            <a:endParaRPr lang="en-DE"/>
          </a:p>
        </p:txBody>
      </p:sp>
      <p:sp>
        <p:nvSpPr>
          <p:cNvPr id="6" name="Text 4"/>
          <p:cNvSpPr/>
          <p:nvPr/>
        </p:nvSpPr>
        <p:spPr>
          <a:xfrm>
            <a:off x="841248" y="2286000"/>
            <a:ext cx="2980944" cy="685800"/>
          </a:xfrm>
          <a:prstGeom prst="rect">
            <a:avLst/>
          </a:prstGeom>
          <a:noFill/>
          <a:ln/>
        </p:spPr>
        <p:txBody>
          <a:bodyPr wrap="square" lIns="0" tIns="0" rIns="0" bIns="0" rtlCol="0" anchor="ctr"/>
          <a:lstStyle/>
          <a:p>
            <a:pPr marL="0" indent="0">
              <a:lnSpc>
                <a:spcPts val="2000"/>
              </a:lnSpc>
              <a:buNone/>
            </a:pPr>
            <a:r>
              <a:rPr lang="en-US" sz="1600" b="1" dirty="0">
                <a:solidFill>
                  <a:srgbClr val="0F1E38"/>
                </a:solidFill>
                <a:latin typeface="Calibri" pitchFamily="34" charset="0"/>
                <a:ea typeface="Calibri" pitchFamily="34" charset="-122"/>
                <a:cs typeface="Calibri" pitchFamily="34" charset="-120"/>
              </a:rPr>
              <a:t>Mehr synthetische Daten</a:t>
            </a:r>
            <a:endParaRPr lang="en-US" sz="1600" dirty="0"/>
          </a:p>
          <a:p>
            <a:pPr marL="0" indent="0">
              <a:lnSpc>
                <a:spcPts val="2000"/>
              </a:lnSpc>
              <a:buNone/>
            </a:pPr>
            <a:r>
              <a:rPr lang="en-US" sz="1600" b="1" dirty="0">
                <a:solidFill>
                  <a:srgbClr val="0F1E38"/>
                </a:solidFill>
                <a:latin typeface="Calibri" pitchFamily="34" charset="0"/>
                <a:ea typeface="Calibri" pitchFamily="34" charset="-122"/>
                <a:cs typeface="Calibri" pitchFamily="34" charset="-120"/>
              </a:rPr>
              <a:t>halfen nicht</a:t>
            </a:r>
            <a:endParaRPr lang="en-US" sz="1600" dirty="0"/>
          </a:p>
        </p:txBody>
      </p:sp>
      <p:sp>
        <p:nvSpPr>
          <p:cNvPr id="7" name="Text 5"/>
          <p:cNvSpPr/>
          <p:nvPr/>
        </p:nvSpPr>
        <p:spPr>
          <a:xfrm>
            <a:off x="841248" y="3035808"/>
            <a:ext cx="2980944" cy="146304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120 Aufnahmen → −2,86 mm.  800 Aufnahmen → −1,48 mm, Intervall schließt die Null ein. Der Nutzen fällt monoton mit der Länge des Vortrainings.</a:t>
            </a:r>
            <a:endParaRPr lang="en-US" sz="1250" dirty="0"/>
          </a:p>
        </p:txBody>
      </p:sp>
      <p:sp>
        <p:nvSpPr>
          <p:cNvPr id="8" name="Shape 6"/>
          <p:cNvSpPr/>
          <p:nvPr/>
        </p:nvSpPr>
        <p:spPr>
          <a:xfrm>
            <a:off x="841248" y="4617720"/>
            <a:ext cx="2980944" cy="1280160"/>
          </a:xfrm>
          <a:prstGeom prst="roundRect">
            <a:avLst>
              <a:gd name="adj" fmla="val 5714"/>
            </a:avLst>
          </a:prstGeom>
          <a:solidFill>
            <a:srgbClr val="E9F0FB"/>
          </a:solidFill>
          <a:ln/>
        </p:spPr>
        <p:txBody>
          <a:bodyPr/>
          <a:lstStyle/>
          <a:p>
            <a:endParaRPr lang="en-DE"/>
          </a:p>
        </p:txBody>
      </p:sp>
      <p:sp>
        <p:nvSpPr>
          <p:cNvPr id="9" name="Text 7"/>
          <p:cNvSpPr/>
          <p:nvPr/>
        </p:nvSpPr>
        <p:spPr>
          <a:xfrm>
            <a:off x="1005840" y="4754880"/>
            <a:ext cx="2651760" cy="1005840"/>
          </a:xfrm>
          <a:prstGeom prst="rect">
            <a:avLst/>
          </a:prstGeom>
          <a:noFill/>
          <a:ln/>
        </p:spPr>
        <p:txBody>
          <a:bodyPr wrap="square" lIns="0" tIns="0" rIns="0" bIns="0" rtlCol="0" anchor="ctr"/>
          <a:lstStyle/>
          <a:p>
            <a:pPr marL="0" indent="0">
              <a:lnSpc>
                <a:spcPts val="1600"/>
              </a:lnSpc>
              <a:buNone/>
            </a:pPr>
            <a:r>
              <a:rPr lang="en-US" sz="1200" dirty="0">
                <a:solidFill>
                  <a:srgbClr val="44577A"/>
                </a:solidFill>
                <a:latin typeface="Calibri" pitchFamily="34" charset="0"/>
                <a:ea typeface="Calibri" pitchFamily="34" charset="-122"/>
                <a:cs typeface="Calibri" pitchFamily="34" charset="-120"/>
              </a:rPr>
              <a:t>Entweder ist der Effekt nur eine günstigere Anfangsstellung der Gewichte, oder der größere Satz ist inhaltlich schlechter. Beides ist noch nicht getrennt.</a:t>
            </a:r>
            <a:endParaRPr lang="en-US" sz="1200" dirty="0"/>
          </a:p>
        </p:txBody>
      </p:sp>
      <p:sp>
        <p:nvSpPr>
          <p:cNvPr id="10" name="Shape 8"/>
          <p:cNvSpPr/>
          <p:nvPr/>
        </p:nvSpPr>
        <p:spPr>
          <a:xfrm>
            <a:off x="4343400" y="1536192"/>
            <a:ext cx="3566160" cy="4572000"/>
          </a:xfrm>
          <a:prstGeom prst="roundRect">
            <a:avLst>
              <a:gd name="adj" fmla="val 3590"/>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1" name="Shape 9"/>
          <p:cNvSpPr/>
          <p:nvPr/>
        </p:nvSpPr>
        <p:spPr>
          <a:xfrm>
            <a:off x="4636008" y="1783080"/>
            <a:ext cx="365760" cy="365760"/>
          </a:xfrm>
          <a:prstGeom prst="ellipse">
            <a:avLst/>
          </a:prstGeom>
          <a:solidFill>
            <a:srgbClr val="0E8FA8"/>
          </a:solidFill>
          <a:ln/>
        </p:spPr>
        <p:txBody>
          <a:bodyPr/>
          <a:lstStyle/>
          <a:p>
            <a:endParaRPr lang="en-DE"/>
          </a:p>
        </p:txBody>
      </p:sp>
      <p:sp>
        <p:nvSpPr>
          <p:cNvPr id="12" name="Text 10"/>
          <p:cNvSpPr/>
          <p:nvPr/>
        </p:nvSpPr>
        <p:spPr>
          <a:xfrm>
            <a:off x="4636008" y="2286000"/>
            <a:ext cx="2980944" cy="685800"/>
          </a:xfrm>
          <a:prstGeom prst="rect">
            <a:avLst/>
          </a:prstGeom>
          <a:noFill/>
          <a:ln/>
        </p:spPr>
        <p:txBody>
          <a:bodyPr wrap="square" lIns="0" tIns="0" rIns="0" bIns="0" rtlCol="0" anchor="ctr"/>
          <a:lstStyle/>
          <a:p>
            <a:pPr marL="0" indent="0">
              <a:lnSpc>
                <a:spcPts val="2000"/>
              </a:lnSpc>
              <a:buNone/>
            </a:pPr>
            <a:r>
              <a:rPr lang="en-US" sz="1600" b="1" dirty="0">
                <a:solidFill>
                  <a:srgbClr val="0F1E38"/>
                </a:solidFill>
                <a:latin typeface="Calibri" pitchFamily="34" charset="0"/>
                <a:ea typeface="Calibri" pitchFamily="34" charset="-122"/>
                <a:cs typeface="Calibri" pitchFamily="34" charset="-120"/>
              </a:rPr>
              <a:t>Regularisierung</a:t>
            </a:r>
            <a:endParaRPr lang="en-US" sz="1600" dirty="0"/>
          </a:p>
          <a:p>
            <a:pPr marL="0" indent="0">
              <a:lnSpc>
                <a:spcPts val="2000"/>
              </a:lnSpc>
              <a:buNone/>
            </a:pPr>
            <a:r>
              <a:rPr lang="en-US" sz="1600" b="1" dirty="0">
                <a:solidFill>
                  <a:srgbClr val="0F1E38"/>
                </a:solidFill>
                <a:latin typeface="Calibri" pitchFamily="34" charset="0"/>
                <a:ea typeface="Calibri" pitchFamily="34" charset="-122"/>
                <a:cs typeface="Calibri" pitchFamily="34" charset="-120"/>
              </a:rPr>
              <a:t>half nicht</a:t>
            </a:r>
            <a:endParaRPr lang="en-US" sz="1600" dirty="0"/>
          </a:p>
        </p:txBody>
      </p:sp>
      <p:sp>
        <p:nvSpPr>
          <p:cNvPr id="13" name="Text 11"/>
          <p:cNvSpPr/>
          <p:nvPr/>
        </p:nvSpPr>
        <p:spPr>
          <a:xfrm>
            <a:off x="4636008" y="3035808"/>
            <a:ext cx="2980944" cy="146304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Von 4,44 auf 1,33 Mio Parameter: 126,6 und 137,6 statt 124,5 und 130,1. Doppelt so viele Fenster plus stärkere Augmentierung: keine Änderung.</a:t>
            </a:r>
            <a:endParaRPr lang="en-US" sz="1250" dirty="0"/>
          </a:p>
        </p:txBody>
      </p:sp>
      <p:sp>
        <p:nvSpPr>
          <p:cNvPr id="14" name="Shape 12"/>
          <p:cNvSpPr/>
          <p:nvPr/>
        </p:nvSpPr>
        <p:spPr>
          <a:xfrm>
            <a:off x="4636008" y="4617720"/>
            <a:ext cx="2980944" cy="1280160"/>
          </a:xfrm>
          <a:prstGeom prst="roundRect">
            <a:avLst>
              <a:gd name="adj" fmla="val 5714"/>
            </a:avLst>
          </a:prstGeom>
          <a:solidFill>
            <a:srgbClr val="E9F0FB"/>
          </a:solidFill>
          <a:ln/>
        </p:spPr>
        <p:txBody>
          <a:bodyPr/>
          <a:lstStyle/>
          <a:p>
            <a:endParaRPr lang="en-DE"/>
          </a:p>
        </p:txBody>
      </p:sp>
      <p:sp>
        <p:nvSpPr>
          <p:cNvPr id="15" name="Text 13"/>
          <p:cNvSpPr/>
          <p:nvPr/>
        </p:nvSpPr>
        <p:spPr>
          <a:xfrm>
            <a:off x="4800600" y="4754880"/>
            <a:ext cx="2651760" cy="1005840"/>
          </a:xfrm>
          <a:prstGeom prst="rect">
            <a:avLst/>
          </a:prstGeom>
          <a:noFill/>
          <a:ln/>
        </p:spPr>
        <p:txBody>
          <a:bodyPr wrap="square" lIns="0" tIns="0" rIns="0" bIns="0" rtlCol="0" anchor="ctr"/>
          <a:lstStyle/>
          <a:p>
            <a:pPr marL="0" indent="0">
              <a:lnSpc>
                <a:spcPts val="1600"/>
              </a:lnSpc>
              <a:buNone/>
            </a:pPr>
            <a:r>
              <a:rPr lang="en-US" sz="1200" dirty="0">
                <a:solidFill>
                  <a:srgbClr val="44577A"/>
                </a:solidFill>
                <a:latin typeface="Calibri" pitchFamily="34" charset="0"/>
                <a:ea typeface="Calibri" pitchFamily="34" charset="-122"/>
                <a:cs typeface="Calibri" pitchFamily="34" charset="-120"/>
              </a:rPr>
              <a:t>Kapazität ist nicht der </a:t>
            </a:r>
            <a:r>
              <a:rPr lang="en-US" sz="1200" dirty="0" err="1">
                <a:solidFill>
                  <a:srgbClr val="44577A"/>
                </a:solidFill>
                <a:latin typeface="Calibri" pitchFamily="34" charset="0"/>
                <a:ea typeface="Calibri" pitchFamily="34" charset="-122"/>
                <a:cs typeface="Calibri" pitchFamily="34" charset="-120"/>
              </a:rPr>
              <a:t>Engpass</a:t>
            </a:r>
            <a:r>
              <a:rPr lang="en-US" sz="1200" dirty="0">
                <a:solidFill>
                  <a:srgbClr val="44577A"/>
                </a:solidFill>
                <a:latin typeface="Calibri" pitchFamily="34" charset="0"/>
                <a:ea typeface="Calibri" pitchFamily="34" charset="-122"/>
                <a:cs typeface="Calibri" pitchFamily="34" charset="-120"/>
              </a:rPr>
              <a:t>. Es fehlt Information, nicht Modell.</a:t>
            </a:r>
            <a:endParaRPr lang="en-US" sz="1200" dirty="0"/>
          </a:p>
        </p:txBody>
      </p:sp>
      <p:sp>
        <p:nvSpPr>
          <p:cNvPr id="16" name="Shape 14"/>
          <p:cNvSpPr/>
          <p:nvPr/>
        </p:nvSpPr>
        <p:spPr>
          <a:xfrm>
            <a:off x="8138160" y="1536192"/>
            <a:ext cx="3566160" cy="4572000"/>
          </a:xfrm>
          <a:prstGeom prst="roundRect">
            <a:avLst>
              <a:gd name="adj" fmla="val 3590"/>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7" name="Shape 15"/>
          <p:cNvSpPr/>
          <p:nvPr/>
        </p:nvSpPr>
        <p:spPr>
          <a:xfrm>
            <a:off x="8430768" y="1783080"/>
            <a:ext cx="365760" cy="365760"/>
          </a:xfrm>
          <a:prstGeom prst="ellipse">
            <a:avLst/>
          </a:prstGeom>
          <a:solidFill>
            <a:srgbClr val="B8860B"/>
          </a:solidFill>
          <a:ln/>
        </p:spPr>
        <p:txBody>
          <a:bodyPr/>
          <a:lstStyle/>
          <a:p>
            <a:endParaRPr lang="en-DE"/>
          </a:p>
        </p:txBody>
      </p:sp>
      <p:sp>
        <p:nvSpPr>
          <p:cNvPr id="18" name="Text 16"/>
          <p:cNvSpPr/>
          <p:nvPr/>
        </p:nvSpPr>
        <p:spPr>
          <a:xfrm>
            <a:off x="8430768" y="2286000"/>
            <a:ext cx="2980944" cy="685800"/>
          </a:xfrm>
          <a:prstGeom prst="rect">
            <a:avLst/>
          </a:prstGeom>
          <a:noFill/>
          <a:ln/>
        </p:spPr>
        <p:txBody>
          <a:bodyPr wrap="square" lIns="0" tIns="0" rIns="0" bIns="0" rtlCol="0" anchor="ctr"/>
          <a:lstStyle/>
          <a:p>
            <a:pPr marL="0" indent="0">
              <a:lnSpc>
                <a:spcPts val="2000"/>
              </a:lnSpc>
              <a:buNone/>
            </a:pPr>
            <a:r>
              <a:rPr lang="en-US" sz="1600" b="1" dirty="0">
                <a:solidFill>
                  <a:srgbClr val="0F1E38"/>
                </a:solidFill>
                <a:latin typeface="Calibri" pitchFamily="34" charset="0"/>
                <a:ea typeface="Calibri" pitchFamily="34" charset="-122"/>
                <a:cs typeface="Calibri" pitchFamily="34" charset="-120"/>
              </a:rPr>
              <a:t>Ein Artefakt in der</a:t>
            </a:r>
            <a:endParaRPr lang="en-US" sz="1600" dirty="0"/>
          </a:p>
          <a:p>
            <a:pPr marL="0" indent="0">
              <a:lnSpc>
                <a:spcPts val="2000"/>
              </a:lnSpc>
              <a:buNone/>
            </a:pPr>
            <a:r>
              <a:rPr lang="en-US" sz="1600" b="1" dirty="0">
                <a:solidFill>
                  <a:srgbClr val="0F1E38"/>
                </a:solidFill>
                <a:latin typeface="Calibri" pitchFamily="34" charset="0"/>
                <a:ea typeface="Calibri" pitchFamily="34" charset="-122"/>
                <a:cs typeface="Calibri" pitchFamily="34" charset="-120"/>
              </a:rPr>
              <a:t>Synthese</a:t>
            </a:r>
            <a:endParaRPr lang="en-US" sz="1600" dirty="0"/>
          </a:p>
        </p:txBody>
      </p:sp>
      <p:sp>
        <p:nvSpPr>
          <p:cNvPr id="19" name="Text 17"/>
          <p:cNvSpPr/>
          <p:nvPr/>
        </p:nvSpPr>
        <p:spPr>
          <a:xfrm>
            <a:off x="8430768" y="3035808"/>
            <a:ext cx="2980944" cy="1463040"/>
          </a:xfrm>
          <a:prstGeom prst="rect">
            <a:avLst/>
          </a:prstGeom>
          <a:noFill/>
          <a:ln/>
        </p:spPr>
        <p:txBody>
          <a:bodyPr wrap="square" lIns="0" tIns="0" rIns="0" bIns="0" rtlCol="0" anchor="ctr"/>
          <a:lstStyle/>
          <a:p>
            <a:pPr marL="0" indent="0">
              <a:lnSpc>
                <a:spcPts val="1700"/>
              </a:lnSpc>
              <a:buNone/>
            </a:pPr>
            <a:r>
              <a:rPr lang="en-US" sz="1250" dirty="0">
                <a:solidFill>
                  <a:srgbClr val="44577A"/>
                </a:solidFill>
                <a:latin typeface="Calibri" pitchFamily="34" charset="0"/>
                <a:ea typeface="Calibri" pitchFamily="34" charset="-122"/>
                <a:cs typeface="Calibri" pitchFamily="34" charset="-120"/>
              </a:rPr>
              <a:t>Das Aufprallband an den Handgelenken ist zehnmal zu groß. Echte Handgelenke tragen dort fast keine Energie.</a:t>
            </a:r>
            <a:endParaRPr lang="en-US" sz="1250" dirty="0"/>
          </a:p>
        </p:txBody>
      </p:sp>
      <p:sp>
        <p:nvSpPr>
          <p:cNvPr id="20" name="Shape 18"/>
          <p:cNvSpPr/>
          <p:nvPr/>
        </p:nvSpPr>
        <p:spPr>
          <a:xfrm>
            <a:off x="8430768" y="4617720"/>
            <a:ext cx="2980944" cy="1280160"/>
          </a:xfrm>
          <a:prstGeom prst="roundRect">
            <a:avLst>
              <a:gd name="adj" fmla="val 5714"/>
            </a:avLst>
          </a:prstGeom>
          <a:solidFill>
            <a:srgbClr val="E9F0FB"/>
          </a:solidFill>
          <a:ln/>
        </p:spPr>
        <p:txBody>
          <a:bodyPr/>
          <a:lstStyle/>
          <a:p>
            <a:endParaRPr lang="en-DE"/>
          </a:p>
        </p:txBody>
      </p:sp>
      <p:sp>
        <p:nvSpPr>
          <p:cNvPr id="21" name="Text 19"/>
          <p:cNvSpPr/>
          <p:nvPr/>
        </p:nvSpPr>
        <p:spPr>
          <a:xfrm>
            <a:off x="8595360" y="4754880"/>
            <a:ext cx="2651760" cy="1005840"/>
          </a:xfrm>
          <a:prstGeom prst="rect">
            <a:avLst/>
          </a:prstGeom>
          <a:noFill/>
          <a:ln/>
        </p:spPr>
        <p:txBody>
          <a:bodyPr wrap="square" lIns="0" tIns="0" rIns="0" bIns="0" rtlCol="0" anchor="ctr"/>
          <a:lstStyle/>
          <a:p>
            <a:pPr marL="0" indent="0">
              <a:lnSpc>
                <a:spcPts val="1600"/>
              </a:lnSpc>
              <a:buNone/>
            </a:pPr>
            <a:r>
              <a:rPr lang="en-US" sz="1200" dirty="0">
                <a:solidFill>
                  <a:srgbClr val="44577A"/>
                </a:solidFill>
                <a:latin typeface="Calibri" pitchFamily="34" charset="0"/>
                <a:ea typeface="Calibri" pitchFamily="34" charset="-122"/>
                <a:cs typeface="Calibri" pitchFamily="34" charset="-120"/>
              </a:rPr>
              <a:t>Die Pose wird geglättet und </a:t>
            </a:r>
            <a:r>
              <a:rPr lang="en-US" sz="1200" dirty="0" err="1">
                <a:solidFill>
                  <a:srgbClr val="44577A"/>
                </a:solidFill>
                <a:latin typeface="Calibri" pitchFamily="34" charset="0"/>
                <a:ea typeface="Calibri" pitchFamily="34" charset="-122"/>
                <a:cs typeface="Calibri" pitchFamily="34" charset="-120"/>
              </a:rPr>
              <a:t>zweimal</a:t>
            </a:r>
            <a:r>
              <a:rPr lang="en-US" sz="1200" dirty="0">
                <a:solidFill>
                  <a:srgbClr val="44577A"/>
                </a:solidFill>
                <a:latin typeface="Calibri" pitchFamily="34" charset="0"/>
                <a:ea typeface="Calibri" pitchFamily="34" charset="-122"/>
                <a:cs typeface="Calibri" pitchFamily="34" charset="-120"/>
              </a:rPr>
              <a:t> </a:t>
            </a:r>
            <a:r>
              <a:rPr lang="en-US" sz="1200" dirty="0" err="1">
                <a:solidFill>
                  <a:srgbClr val="44577A"/>
                </a:solidFill>
                <a:latin typeface="Calibri" pitchFamily="34" charset="0"/>
                <a:ea typeface="Calibri" pitchFamily="34" charset="-122"/>
                <a:cs typeface="Calibri" pitchFamily="34" charset="-120"/>
              </a:rPr>
              <a:t>abgeleitet</a:t>
            </a:r>
            <a:r>
              <a:rPr lang="en-US" sz="1200" dirty="0">
                <a:solidFill>
                  <a:srgbClr val="44577A"/>
                </a:solidFill>
                <a:latin typeface="Calibri" pitchFamily="34" charset="0"/>
                <a:ea typeface="Calibri" pitchFamily="34" charset="-122"/>
                <a:cs typeface="Calibri" pitchFamily="34" charset="-120"/>
              </a:rPr>
              <a:t>, das verstärkt hohe Frequenzen quadratisch. Kein Bewegungsinhalt, sondern Rechenfehler.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66928" y="329184"/>
            <a:ext cx="7315200" cy="237744"/>
          </a:xfrm>
          <a:prstGeom prst="rect">
            <a:avLst/>
          </a:prstGeom>
          <a:noFill/>
          <a:ln/>
        </p:spPr>
        <p:txBody>
          <a:bodyPr wrap="square" lIns="0" tIns="0" rIns="0" bIns="0" rtlCol="0" anchor="ctr"/>
          <a:lstStyle/>
          <a:p>
            <a:pPr marL="0" indent="0">
              <a:buNone/>
            </a:pPr>
            <a:r>
              <a:rPr lang="en-US" sz="1150" b="1" kern="0" spc="200" dirty="0">
                <a:solidFill>
                  <a:srgbClr val="2F6FE0"/>
                </a:solidFill>
                <a:latin typeface="Calibri" pitchFamily="34" charset="0"/>
                <a:ea typeface="Calibri" pitchFamily="34" charset="-122"/>
                <a:cs typeface="Calibri" pitchFamily="34" charset="-120"/>
              </a:rPr>
              <a:t>EINORDNUNG</a:t>
            </a:r>
            <a:endParaRPr lang="en-US" sz="1150" dirty="0"/>
          </a:p>
        </p:txBody>
      </p:sp>
      <p:sp>
        <p:nvSpPr>
          <p:cNvPr id="3" name="Text 1"/>
          <p:cNvSpPr/>
          <p:nvPr/>
        </p:nvSpPr>
        <p:spPr>
          <a:xfrm>
            <a:off x="548640" y="566928"/>
            <a:ext cx="11064240" cy="658368"/>
          </a:xfrm>
          <a:prstGeom prst="rect">
            <a:avLst/>
          </a:prstGeom>
          <a:noFill/>
          <a:ln/>
        </p:spPr>
        <p:txBody>
          <a:bodyPr wrap="square" lIns="0" tIns="0" rIns="0" bIns="0" rtlCol="0" anchor="ctr"/>
          <a:lstStyle/>
          <a:p>
            <a:pPr marL="0" indent="0">
              <a:buNone/>
            </a:pPr>
            <a:r>
              <a:rPr lang="en-US" sz="3300" b="1" dirty="0">
                <a:solidFill>
                  <a:srgbClr val="0F1E38"/>
                </a:solidFill>
                <a:latin typeface="Calibri" pitchFamily="34" charset="0"/>
                <a:ea typeface="Calibri" pitchFamily="34" charset="-122"/>
                <a:cs typeface="Calibri" pitchFamily="34" charset="-120"/>
              </a:rPr>
              <a:t>Was die Zahlen </a:t>
            </a:r>
            <a:r>
              <a:rPr lang="en-US" sz="3300" b="1" dirty="0" err="1">
                <a:solidFill>
                  <a:srgbClr val="0F1E38"/>
                </a:solidFill>
                <a:latin typeface="Calibri" pitchFamily="34" charset="0"/>
                <a:ea typeface="Calibri" pitchFamily="34" charset="-122"/>
                <a:cs typeface="Calibri" pitchFamily="34" charset="-120"/>
              </a:rPr>
              <a:t>bedeuten</a:t>
            </a:r>
            <a:r>
              <a:rPr lang="en-US" sz="3300" b="1" dirty="0">
                <a:solidFill>
                  <a:srgbClr val="0F1E38"/>
                </a:solidFill>
                <a:latin typeface="Calibri" pitchFamily="34" charset="0"/>
                <a:ea typeface="Calibri" pitchFamily="34" charset="-122"/>
                <a:cs typeface="Calibri" pitchFamily="34" charset="-120"/>
              </a:rPr>
              <a:t> und was nicht</a:t>
            </a:r>
            <a:endParaRPr lang="en-US" sz="3300" dirty="0"/>
          </a:p>
        </p:txBody>
      </p:sp>
      <p:sp>
        <p:nvSpPr>
          <p:cNvPr id="4" name="Shape 2"/>
          <p:cNvSpPr/>
          <p:nvPr/>
        </p:nvSpPr>
        <p:spPr>
          <a:xfrm>
            <a:off x="548640" y="1536192"/>
            <a:ext cx="5943600" cy="3108960"/>
          </a:xfrm>
          <a:prstGeom prst="roundRect">
            <a:avLst>
              <a:gd name="adj" fmla="val 4118"/>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5" name="Text 3"/>
          <p:cNvSpPr/>
          <p:nvPr/>
        </p:nvSpPr>
        <p:spPr>
          <a:xfrm>
            <a:off x="868680" y="1737360"/>
            <a:ext cx="5303520" cy="292608"/>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Bezugswerte</a:t>
            </a:r>
            <a:endParaRPr lang="en-US" sz="1500" dirty="0"/>
          </a:p>
        </p:txBody>
      </p:sp>
      <p:sp>
        <p:nvSpPr>
          <p:cNvPr id="6" name="Text 4"/>
          <p:cNvSpPr/>
          <p:nvPr/>
        </p:nvSpPr>
        <p:spPr>
          <a:xfrm>
            <a:off x="868680" y="2194560"/>
            <a:ext cx="3931920" cy="384048"/>
          </a:xfrm>
          <a:prstGeom prst="rect">
            <a:avLst/>
          </a:prstGeom>
          <a:noFill/>
          <a:ln/>
        </p:spPr>
        <p:txBody>
          <a:bodyPr wrap="square" lIns="0" tIns="0" rIns="0" bIns="0" rtlCol="0" anchor="ctr"/>
          <a:lstStyle/>
          <a:p>
            <a:pPr marL="0" indent="0">
              <a:buNone/>
            </a:pPr>
            <a:r>
              <a:rPr lang="en-US" sz="1300" dirty="0">
                <a:solidFill>
                  <a:srgbClr val="44577A"/>
                </a:solidFill>
                <a:latin typeface="Calibri" pitchFamily="34" charset="0"/>
                <a:ea typeface="Calibri" pitchFamily="34" charset="-122"/>
                <a:cs typeface="Calibri" pitchFamily="34" charset="-120"/>
              </a:rPr>
              <a:t>triviale Mittelpose</a:t>
            </a:r>
            <a:endParaRPr lang="en-US" sz="1300" dirty="0"/>
          </a:p>
        </p:txBody>
      </p:sp>
      <p:sp>
        <p:nvSpPr>
          <p:cNvPr id="7" name="Text 5"/>
          <p:cNvSpPr/>
          <p:nvPr/>
        </p:nvSpPr>
        <p:spPr>
          <a:xfrm>
            <a:off x="4846320" y="2194560"/>
            <a:ext cx="1371600" cy="384048"/>
          </a:xfrm>
          <a:prstGeom prst="rect">
            <a:avLst/>
          </a:prstGeom>
          <a:noFill/>
          <a:ln/>
        </p:spPr>
        <p:txBody>
          <a:bodyPr wrap="square" lIns="0" tIns="0" rIns="0" bIns="0" rtlCol="0" anchor="ctr"/>
          <a:lstStyle/>
          <a:p>
            <a:pPr marL="0" indent="0" algn="r">
              <a:buNone/>
            </a:pPr>
            <a:r>
              <a:rPr lang="en-US" sz="1500" b="1" dirty="0">
                <a:solidFill>
                  <a:srgbClr val="7D8AA2"/>
                </a:solidFill>
                <a:latin typeface="Calibri" pitchFamily="34" charset="0"/>
                <a:ea typeface="Calibri" pitchFamily="34" charset="-122"/>
                <a:cs typeface="Calibri" pitchFamily="34" charset="-120"/>
              </a:rPr>
              <a:t>105,4 mm</a:t>
            </a:r>
            <a:endParaRPr lang="en-US" sz="1500" dirty="0"/>
          </a:p>
        </p:txBody>
      </p:sp>
      <p:sp>
        <p:nvSpPr>
          <p:cNvPr id="8" name="Text 6"/>
          <p:cNvSpPr/>
          <p:nvPr/>
        </p:nvSpPr>
        <p:spPr>
          <a:xfrm>
            <a:off x="868680" y="2743200"/>
            <a:ext cx="3931920" cy="384048"/>
          </a:xfrm>
          <a:prstGeom prst="rect">
            <a:avLst/>
          </a:prstGeom>
          <a:noFill/>
          <a:ln/>
        </p:spPr>
        <p:txBody>
          <a:bodyPr wrap="square" lIns="0" tIns="0" rIns="0" bIns="0" rtlCol="0" anchor="ctr"/>
          <a:lstStyle/>
          <a:p>
            <a:pPr marL="0" indent="0">
              <a:buNone/>
            </a:pPr>
            <a:r>
              <a:rPr lang="en-US" sz="1300" dirty="0">
                <a:solidFill>
                  <a:srgbClr val="44577A"/>
                </a:solidFill>
                <a:latin typeface="Calibri" pitchFamily="34" charset="0"/>
                <a:ea typeface="Calibri" pitchFamily="34" charset="-122"/>
                <a:cs typeface="Calibri" pitchFamily="34" charset="-120"/>
              </a:rPr>
              <a:t>nur echte Daten</a:t>
            </a:r>
            <a:endParaRPr lang="en-US" sz="1300" dirty="0"/>
          </a:p>
        </p:txBody>
      </p:sp>
      <p:sp>
        <p:nvSpPr>
          <p:cNvPr id="9" name="Text 7"/>
          <p:cNvSpPr/>
          <p:nvPr/>
        </p:nvSpPr>
        <p:spPr>
          <a:xfrm>
            <a:off x="4846320" y="2743200"/>
            <a:ext cx="1371600" cy="384048"/>
          </a:xfrm>
          <a:prstGeom prst="rect">
            <a:avLst/>
          </a:prstGeom>
          <a:noFill/>
          <a:ln/>
        </p:spPr>
        <p:txBody>
          <a:bodyPr wrap="square" lIns="0" tIns="0" rIns="0" bIns="0" rtlCol="0" anchor="ctr"/>
          <a:lstStyle/>
          <a:p>
            <a:pPr marL="0" indent="0" algn="r">
              <a:buNone/>
            </a:pPr>
            <a:r>
              <a:rPr lang="en-US" sz="1500" b="1" dirty="0">
                <a:solidFill>
                  <a:srgbClr val="44577A"/>
                </a:solidFill>
                <a:latin typeface="Calibri" pitchFamily="34" charset="0"/>
                <a:ea typeface="Calibri" pitchFamily="34" charset="-122"/>
                <a:cs typeface="Calibri" pitchFamily="34" charset="-120"/>
              </a:rPr>
              <a:t>92,3 mm</a:t>
            </a:r>
            <a:endParaRPr lang="en-US" sz="1500" dirty="0"/>
          </a:p>
        </p:txBody>
      </p:sp>
      <p:sp>
        <p:nvSpPr>
          <p:cNvPr id="10" name="Text 8"/>
          <p:cNvSpPr/>
          <p:nvPr/>
        </p:nvSpPr>
        <p:spPr>
          <a:xfrm>
            <a:off x="868680" y="3291840"/>
            <a:ext cx="3931920" cy="384048"/>
          </a:xfrm>
          <a:prstGeom prst="rect">
            <a:avLst/>
          </a:prstGeom>
          <a:noFill/>
          <a:ln/>
        </p:spPr>
        <p:txBody>
          <a:bodyPr wrap="square" lIns="0" tIns="0" rIns="0" bIns="0" rtlCol="0" anchor="ctr"/>
          <a:lstStyle/>
          <a:p>
            <a:pPr marL="0" indent="0">
              <a:buNone/>
            </a:pPr>
            <a:r>
              <a:rPr lang="en-US" sz="1300" dirty="0">
                <a:solidFill>
                  <a:srgbClr val="44577A"/>
                </a:solidFill>
                <a:latin typeface="Calibri" pitchFamily="34" charset="0"/>
                <a:ea typeface="Calibri" pitchFamily="34" charset="-122"/>
                <a:cs typeface="Calibri" pitchFamily="34" charset="-120"/>
              </a:rPr>
              <a:t>mit Vortraining</a:t>
            </a:r>
            <a:endParaRPr lang="en-US" sz="1300" dirty="0"/>
          </a:p>
        </p:txBody>
      </p:sp>
      <p:sp>
        <p:nvSpPr>
          <p:cNvPr id="11" name="Text 9"/>
          <p:cNvSpPr/>
          <p:nvPr/>
        </p:nvSpPr>
        <p:spPr>
          <a:xfrm>
            <a:off x="4846320" y="3291840"/>
            <a:ext cx="1371600" cy="384048"/>
          </a:xfrm>
          <a:prstGeom prst="rect">
            <a:avLst/>
          </a:prstGeom>
          <a:noFill/>
          <a:ln/>
        </p:spPr>
        <p:txBody>
          <a:bodyPr wrap="square" lIns="0" tIns="0" rIns="0" bIns="0" rtlCol="0" anchor="ctr"/>
          <a:lstStyle/>
          <a:p>
            <a:pPr marL="0" indent="0" algn="r">
              <a:buNone/>
            </a:pPr>
            <a:r>
              <a:rPr lang="en-US" sz="1500" b="1" dirty="0">
                <a:solidFill>
                  <a:srgbClr val="0F9E76"/>
                </a:solidFill>
                <a:latin typeface="Calibri" pitchFamily="34" charset="0"/>
                <a:ea typeface="Calibri" pitchFamily="34" charset="-122"/>
                <a:cs typeface="Calibri" pitchFamily="34" charset="-120"/>
              </a:rPr>
              <a:t>89,5 mm</a:t>
            </a:r>
            <a:endParaRPr lang="en-US" sz="1500" dirty="0"/>
          </a:p>
        </p:txBody>
      </p:sp>
      <p:sp>
        <p:nvSpPr>
          <p:cNvPr id="12" name="Text 10"/>
          <p:cNvSpPr/>
          <p:nvPr/>
        </p:nvSpPr>
        <p:spPr>
          <a:xfrm>
            <a:off x="868680" y="3840480"/>
            <a:ext cx="3931920" cy="384048"/>
          </a:xfrm>
          <a:prstGeom prst="rect">
            <a:avLst/>
          </a:prstGeom>
          <a:noFill/>
          <a:ln/>
        </p:spPr>
        <p:txBody>
          <a:bodyPr wrap="square" lIns="0" tIns="0" rIns="0" bIns="0" rtlCol="0" anchor="ctr"/>
          <a:lstStyle/>
          <a:p>
            <a:pPr marL="0" indent="0">
              <a:buNone/>
            </a:pPr>
            <a:r>
              <a:rPr lang="en-US" sz="1300" dirty="0">
                <a:solidFill>
                  <a:srgbClr val="44577A"/>
                </a:solidFill>
                <a:latin typeface="Calibri" pitchFamily="34" charset="0"/>
                <a:ea typeface="Calibri" pitchFamily="34" charset="-122"/>
                <a:cs typeface="Calibri" pitchFamily="34" charset="-120"/>
              </a:rPr>
              <a:t>MediaPipe-Zittern der Knochenlängen</a:t>
            </a:r>
            <a:endParaRPr lang="en-US" sz="1300" dirty="0"/>
          </a:p>
        </p:txBody>
      </p:sp>
      <p:sp>
        <p:nvSpPr>
          <p:cNvPr id="13" name="Text 11"/>
          <p:cNvSpPr/>
          <p:nvPr/>
        </p:nvSpPr>
        <p:spPr>
          <a:xfrm>
            <a:off x="4846320" y="3840480"/>
            <a:ext cx="1371600" cy="384048"/>
          </a:xfrm>
          <a:prstGeom prst="rect">
            <a:avLst/>
          </a:prstGeom>
          <a:noFill/>
          <a:ln/>
        </p:spPr>
        <p:txBody>
          <a:bodyPr wrap="square" lIns="0" tIns="0" rIns="0" bIns="0" rtlCol="0" anchor="ctr"/>
          <a:lstStyle/>
          <a:p>
            <a:pPr marL="0" indent="0" algn="r">
              <a:buNone/>
            </a:pPr>
            <a:r>
              <a:rPr lang="en-US" sz="1500" b="1" dirty="0">
                <a:solidFill>
                  <a:srgbClr val="D9661B"/>
                </a:solidFill>
                <a:latin typeface="Calibri" pitchFamily="34" charset="0"/>
                <a:ea typeface="Calibri" pitchFamily="34" charset="-122"/>
                <a:cs typeface="Calibri" pitchFamily="34" charset="-120"/>
              </a:rPr>
              <a:t>20,0 mm</a:t>
            </a:r>
            <a:endParaRPr lang="en-US" sz="1500" dirty="0"/>
          </a:p>
        </p:txBody>
      </p:sp>
      <p:sp>
        <p:nvSpPr>
          <p:cNvPr id="14" name="Text 12"/>
          <p:cNvSpPr/>
          <p:nvPr/>
        </p:nvSpPr>
        <p:spPr>
          <a:xfrm>
            <a:off x="868680" y="4069080"/>
            <a:ext cx="5303520" cy="502920"/>
          </a:xfrm>
          <a:prstGeom prst="rect">
            <a:avLst/>
          </a:prstGeom>
          <a:noFill/>
          <a:ln/>
        </p:spPr>
        <p:txBody>
          <a:bodyPr wrap="square" lIns="0" tIns="0" rIns="0" bIns="0" rtlCol="0" anchor="ctr"/>
          <a:lstStyle/>
          <a:p>
            <a:pPr marL="0" indent="0">
              <a:lnSpc>
                <a:spcPts val="1500"/>
              </a:lnSpc>
              <a:buNone/>
            </a:pPr>
            <a:r>
              <a:rPr lang="en-US" sz="1200" dirty="0">
                <a:solidFill>
                  <a:srgbClr val="7D8AA2"/>
                </a:solidFill>
                <a:latin typeface="Calibri" pitchFamily="34" charset="0"/>
                <a:ea typeface="Calibri" pitchFamily="34" charset="-122"/>
                <a:cs typeface="Calibri" pitchFamily="34" charset="-120"/>
              </a:rPr>
              <a:t>Unter rund 20 mm käme kein Modell mit starren Knochen — dort fängt das Rauschen der Zielwerte an.</a:t>
            </a:r>
            <a:endParaRPr lang="en-US" sz="1200" dirty="0"/>
          </a:p>
        </p:txBody>
      </p:sp>
      <p:sp>
        <p:nvSpPr>
          <p:cNvPr id="15" name="Shape 13"/>
          <p:cNvSpPr/>
          <p:nvPr/>
        </p:nvSpPr>
        <p:spPr>
          <a:xfrm>
            <a:off x="6720840" y="1536192"/>
            <a:ext cx="4892040" cy="3108960"/>
          </a:xfrm>
          <a:prstGeom prst="roundRect">
            <a:avLst>
              <a:gd name="adj" fmla="val 4118"/>
            </a:avLst>
          </a:prstGeom>
          <a:solidFill>
            <a:srgbClr val="E9F0FB"/>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16" name="Text 14"/>
          <p:cNvSpPr/>
          <p:nvPr/>
        </p:nvSpPr>
        <p:spPr>
          <a:xfrm>
            <a:off x="7040880" y="1737360"/>
            <a:ext cx="4251960" cy="292608"/>
          </a:xfrm>
          <a:prstGeom prst="rect">
            <a:avLst/>
          </a:prstGeom>
          <a:noFill/>
          <a:ln/>
        </p:spPr>
        <p:txBody>
          <a:bodyPr wrap="square" lIns="0" tIns="0" rIns="0" bIns="0" rtlCol="0" anchor="ctr"/>
          <a:lstStyle/>
          <a:p>
            <a:pPr marL="0" indent="0">
              <a:buNone/>
            </a:pPr>
            <a:r>
              <a:rPr lang="en-US" sz="1500" b="1" dirty="0">
                <a:solidFill>
                  <a:srgbClr val="0F1E38"/>
                </a:solidFill>
                <a:latin typeface="Calibri" pitchFamily="34" charset="0"/>
                <a:ea typeface="Calibri" pitchFamily="34" charset="-122"/>
                <a:cs typeface="Calibri" pitchFamily="34" charset="-120"/>
              </a:rPr>
              <a:t>Bewusst nicht vorhergesagt</a:t>
            </a:r>
            <a:endParaRPr lang="en-US" sz="1500" dirty="0"/>
          </a:p>
        </p:txBody>
      </p:sp>
      <p:sp>
        <p:nvSpPr>
          <p:cNvPr id="17" name="Text 15"/>
          <p:cNvSpPr/>
          <p:nvPr/>
        </p:nvSpPr>
        <p:spPr>
          <a:xfrm>
            <a:off x="7040880" y="2103120"/>
            <a:ext cx="4251960" cy="731520"/>
          </a:xfrm>
          <a:prstGeom prst="rect">
            <a:avLst/>
          </a:prstGeom>
          <a:noFill/>
          <a:ln/>
        </p:spPr>
        <p:txBody>
          <a:bodyPr wrap="square" lIns="0" tIns="0" rIns="0" bIns="0" rtlCol="0" anchor="ctr"/>
          <a:lstStyle/>
          <a:p>
            <a:pPr marL="342900" indent="-342900">
              <a:lnSpc>
                <a:spcPts val="1900"/>
              </a:lnSpc>
              <a:spcAft>
                <a:spcPts val="400"/>
              </a:spcAft>
              <a:buSzPct val="100000"/>
              <a:buChar char="•"/>
            </a:pPr>
            <a:r>
              <a:rPr lang="en-US" sz="1350" dirty="0">
                <a:solidFill>
                  <a:srgbClr val="44577A"/>
                </a:solidFill>
                <a:latin typeface="Calibri" pitchFamily="34" charset="0"/>
                <a:ea typeface="Calibri" pitchFamily="34" charset="-122"/>
                <a:cs typeface="Calibri" pitchFamily="34" charset="-120"/>
              </a:rPr>
              <a:t>Globale Position im Raum</a:t>
            </a:r>
            <a:endParaRPr lang="en-US" sz="1350" dirty="0"/>
          </a:p>
          <a:p>
            <a:pPr marL="342900" indent="-342900">
              <a:lnSpc>
                <a:spcPts val="1900"/>
              </a:lnSpc>
              <a:spcAft>
                <a:spcPts val="400"/>
              </a:spcAft>
              <a:buSzPct val="100000"/>
              <a:buChar char="•"/>
            </a:pPr>
            <a:r>
              <a:rPr lang="en-US" sz="1350" dirty="0">
                <a:solidFill>
                  <a:srgbClr val="44577A"/>
                </a:solidFill>
                <a:latin typeface="Calibri" pitchFamily="34" charset="0"/>
                <a:ea typeface="Calibri" pitchFamily="34" charset="-122"/>
                <a:cs typeface="Calibri" pitchFamily="34" charset="-120"/>
              </a:rPr>
              <a:t>Blickrichtung des Körpers</a:t>
            </a:r>
            <a:endParaRPr lang="en-US" sz="1350" dirty="0"/>
          </a:p>
        </p:txBody>
      </p:sp>
      <p:sp>
        <p:nvSpPr>
          <p:cNvPr id="18" name="Text 16"/>
          <p:cNvSpPr/>
          <p:nvPr/>
        </p:nvSpPr>
        <p:spPr>
          <a:xfrm>
            <a:off x="7040880" y="2999232"/>
            <a:ext cx="4251960" cy="1005840"/>
          </a:xfrm>
          <a:prstGeom prst="rect">
            <a:avLst/>
          </a:prstGeom>
          <a:noFill/>
          <a:ln/>
        </p:spPr>
        <p:txBody>
          <a:bodyPr wrap="square" lIns="0" tIns="0" rIns="0" bIns="0" rtlCol="0" anchor="ctr"/>
          <a:lstStyle/>
          <a:p>
            <a:pPr marL="0" indent="0">
              <a:lnSpc>
                <a:spcPts val="1700"/>
              </a:lnSpc>
              <a:buNone/>
            </a:pPr>
            <a:r>
              <a:rPr lang="en-US" sz="1300" dirty="0">
                <a:solidFill>
                  <a:srgbClr val="44577A"/>
                </a:solidFill>
                <a:latin typeface="Calibri" pitchFamily="34" charset="0"/>
                <a:ea typeface="Calibri" pitchFamily="34" charset="-122"/>
                <a:cs typeface="Calibri" pitchFamily="34" charset="-120"/>
              </a:rPr>
              <a:t>Ohne Sensor am Rumpf und ohne Magnetometer ist beides nicht beobachtbar. Ein Modell, das es ausgibt, gibt geratene Zahlen aus.</a:t>
            </a:r>
            <a:endParaRPr lang="en-US" sz="1300" dirty="0"/>
          </a:p>
        </p:txBody>
      </p:sp>
      <p:sp>
        <p:nvSpPr>
          <p:cNvPr id="19" name="Text 17"/>
          <p:cNvSpPr/>
          <p:nvPr/>
        </p:nvSpPr>
        <p:spPr>
          <a:xfrm>
            <a:off x="7040880" y="4114800"/>
            <a:ext cx="4251960" cy="365760"/>
          </a:xfrm>
          <a:prstGeom prst="rect">
            <a:avLst/>
          </a:prstGeom>
          <a:noFill/>
          <a:ln/>
        </p:spPr>
        <p:txBody>
          <a:bodyPr wrap="square" lIns="0" tIns="0" rIns="0" bIns="0" rtlCol="0" anchor="ctr"/>
          <a:lstStyle/>
          <a:p>
            <a:pPr marL="0" indent="0">
              <a:buNone/>
            </a:pPr>
            <a:r>
              <a:rPr lang="en-US" sz="1250" b="1" dirty="0">
                <a:solidFill>
                  <a:srgbClr val="2F6FE0"/>
                </a:solidFill>
                <a:latin typeface="Calibri" pitchFamily="34" charset="0"/>
                <a:ea typeface="Calibri" pitchFamily="34" charset="-122"/>
                <a:cs typeface="Calibri" pitchFamily="34" charset="-120"/>
              </a:rPr>
              <a:t>Deshalb steht PA-MPJPE immer neben MPJPE.</a:t>
            </a:r>
            <a:endParaRPr lang="en-US" sz="1250" dirty="0"/>
          </a:p>
        </p:txBody>
      </p:sp>
      <p:sp>
        <p:nvSpPr>
          <p:cNvPr id="20" name="Shape 18"/>
          <p:cNvSpPr/>
          <p:nvPr/>
        </p:nvSpPr>
        <p:spPr>
          <a:xfrm>
            <a:off x="548640" y="4892040"/>
            <a:ext cx="11064240" cy="1234440"/>
          </a:xfrm>
          <a:prstGeom prst="roundRect">
            <a:avLst>
              <a:gd name="adj" fmla="val 10370"/>
            </a:avLst>
          </a:prstGeom>
          <a:solidFill>
            <a:srgbClr val="FFFFFF"/>
          </a:solidFill>
          <a:ln w="9525">
            <a:solidFill>
              <a:srgbClr val="DCE6F5"/>
            </a:solidFill>
            <a:prstDash val="solid"/>
          </a:ln>
          <a:effectLst>
            <a:outerShdw blurRad="177800" dist="38100" dir="5400000" algn="bl" rotWithShape="0">
              <a:srgbClr val="8FA3C4">
                <a:alpha val="22000"/>
              </a:srgbClr>
            </a:outerShdw>
          </a:effectLst>
        </p:spPr>
        <p:txBody>
          <a:bodyPr/>
          <a:lstStyle/>
          <a:p>
            <a:endParaRPr lang="en-DE"/>
          </a:p>
        </p:txBody>
      </p:sp>
      <p:sp>
        <p:nvSpPr>
          <p:cNvPr id="21" name="Text 19"/>
          <p:cNvSpPr/>
          <p:nvPr/>
        </p:nvSpPr>
        <p:spPr>
          <a:xfrm>
            <a:off x="868680" y="5074920"/>
            <a:ext cx="10424160" cy="868680"/>
          </a:xfrm>
          <a:prstGeom prst="rect">
            <a:avLst/>
          </a:prstGeom>
          <a:noFill/>
          <a:ln/>
        </p:spPr>
        <p:txBody>
          <a:bodyPr wrap="square" lIns="0" tIns="0" rIns="0" bIns="0" rtlCol="0" anchor="ctr"/>
          <a:lstStyle/>
          <a:p>
            <a:pPr marL="0" indent="0">
              <a:lnSpc>
                <a:spcPts val="1700"/>
              </a:lnSpc>
              <a:buNone/>
            </a:pPr>
            <a:r>
              <a:rPr lang="en-US" sz="1300" dirty="0">
                <a:solidFill>
                  <a:srgbClr val="44577A"/>
                </a:solidFill>
                <a:latin typeface="Calibri" pitchFamily="34" charset="0"/>
                <a:ea typeface="Calibri" pitchFamily="34" charset="-122"/>
                <a:cs typeface="Calibri" pitchFamily="34" charset="-120"/>
              </a:rPr>
              <a:t>Ground Truth ist MediaPipe, kein Markersystem. Die kameraabgewandte Seite wird systematisch kürzer gemessen — im kanonischen Skelett 412 mm linker gegen 342 mm rechter Oberschenkel. Da Training und Auswertung dieselben Zielwerte benutzen, verzerrt das den Vergleich nicht, aber es begrenzt, wie gut die Zielwerte sein können.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629"/>
        </a:solidFill>
        <a:effectLst/>
      </p:bgPr>
    </p:bg>
    <p:spTree>
      <p:nvGrpSpPr>
        <p:cNvPr id="1" name=""/>
        <p:cNvGrpSpPr/>
        <p:nvPr/>
      </p:nvGrpSpPr>
      <p:grpSpPr>
        <a:xfrm>
          <a:off x="0" y="0"/>
          <a:ext cx="0" cy="0"/>
          <a:chOff x="0" y="0"/>
          <a:chExt cx="0" cy="0"/>
        </a:xfrm>
      </p:grpSpPr>
      <p:sp>
        <p:nvSpPr>
          <p:cNvPr id="2" name="Shape 0"/>
          <p:cNvSpPr/>
          <p:nvPr/>
        </p:nvSpPr>
        <p:spPr>
          <a:xfrm>
            <a:off x="-1463040" y="3931920"/>
            <a:ext cx="5120640" cy="5120640"/>
          </a:xfrm>
          <a:prstGeom prst="ellipse">
            <a:avLst/>
          </a:prstGeom>
          <a:solidFill>
            <a:srgbClr val="12283F"/>
          </a:solidFill>
          <a:ln/>
        </p:spPr>
        <p:txBody>
          <a:bodyPr/>
          <a:lstStyle/>
          <a:p>
            <a:endParaRPr lang="en-DE"/>
          </a:p>
        </p:txBody>
      </p:sp>
      <p:sp>
        <p:nvSpPr>
          <p:cNvPr id="3" name="Shape 1"/>
          <p:cNvSpPr/>
          <p:nvPr/>
        </p:nvSpPr>
        <p:spPr>
          <a:xfrm>
            <a:off x="9692640" y="-1097280"/>
            <a:ext cx="4023360" cy="4023360"/>
          </a:xfrm>
          <a:prstGeom prst="ellipse">
            <a:avLst/>
          </a:prstGeom>
          <a:solidFill>
            <a:srgbClr val="153055"/>
          </a:solidFill>
          <a:ln/>
        </p:spPr>
        <p:txBody>
          <a:bodyPr/>
          <a:lstStyle/>
          <a:p>
            <a:endParaRPr lang="en-DE"/>
          </a:p>
        </p:txBody>
      </p:sp>
      <p:sp>
        <p:nvSpPr>
          <p:cNvPr id="4" name="Text 2"/>
          <p:cNvSpPr/>
          <p:nvPr/>
        </p:nvSpPr>
        <p:spPr>
          <a:xfrm>
            <a:off x="822960" y="1600200"/>
            <a:ext cx="3657600" cy="274320"/>
          </a:xfrm>
          <a:prstGeom prst="rect">
            <a:avLst/>
          </a:prstGeom>
          <a:noFill/>
          <a:ln/>
        </p:spPr>
        <p:txBody>
          <a:bodyPr wrap="square" lIns="0" tIns="0" rIns="0" bIns="0" rtlCol="0" anchor="ctr"/>
          <a:lstStyle/>
          <a:p>
            <a:pPr marL="0" indent="0">
              <a:buNone/>
            </a:pPr>
            <a:r>
              <a:rPr lang="en-US" sz="1200" b="1" kern="0" spc="250" dirty="0">
                <a:solidFill>
                  <a:srgbClr val="67C7E8"/>
                </a:solidFill>
                <a:latin typeface="Calibri" pitchFamily="34" charset="0"/>
                <a:ea typeface="Calibri" pitchFamily="34" charset="-122"/>
                <a:cs typeface="Calibri" pitchFamily="34" charset="-120"/>
              </a:rPr>
              <a:t>LIVE</a:t>
            </a:r>
            <a:endParaRPr lang="en-US" sz="1200" dirty="0"/>
          </a:p>
        </p:txBody>
      </p:sp>
      <p:sp>
        <p:nvSpPr>
          <p:cNvPr id="5" name="Text 3"/>
          <p:cNvSpPr/>
          <p:nvPr/>
        </p:nvSpPr>
        <p:spPr>
          <a:xfrm>
            <a:off x="822960" y="2011680"/>
            <a:ext cx="8686800" cy="868680"/>
          </a:xfrm>
          <a:prstGeom prst="rect">
            <a:avLst/>
          </a:prstGeom>
          <a:noFill/>
          <a:ln/>
        </p:spPr>
        <p:txBody>
          <a:bodyPr wrap="square" lIns="0" tIns="0" rIns="0" bIns="0" rtlCol="0" anchor="ctr"/>
          <a:lstStyle/>
          <a:p>
            <a:pPr marL="0" indent="0">
              <a:buNone/>
            </a:pPr>
            <a:r>
              <a:rPr lang="en-US" sz="4000" b="1" dirty="0">
                <a:solidFill>
                  <a:srgbClr val="EEF3FB"/>
                </a:solidFill>
                <a:latin typeface="Calibri" pitchFamily="34" charset="0"/>
                <a:ea typeface="Calibri" pitchFamily="34" charset="-122"/>
                <a:cs typeface="Calibri" pitchFamily="34" charset="-120"/>
              </a:rPr>
              <a:t>Schauen wir es uns an</a:t>
            </a:r>
            <a:endParaRPr lang="en-US" sz="4000" dirty="0"/>
          </a:p>
        </p:txBody>
      </p:sp>
      <p:sp>
        <p:nvSpPr>
          <p:cNvPr id="6" name="Text 4"/>
          <p:cNvSpPr/>
          <p:nvPr/>
        </p:nvSpPr>
        <p:spPr>
          <a:xfrm>
            <a:off x="822960" y="3017520"/>
            <a:ext cx="8412480" cy="822960"/>
          </a:xfrm>
          <a:prstGeom prst="rect">
            <a:avLst/>
          </a:prstGeom>
          <a:noFill/>
          <a:ln/>
        </p:spPr>
        <p:txBody>
          <a:bodyPr wrap="square" lIns="0" tIns="0" rIns="0" bIns="0" rtlCol="0" anchor="ctr"/>
          <a:lstStyle/>
          <a:p>
            <a:pPr marL="0" indent="0">
              <a:lnSpc>
                <a:spcPts val="2400"/>
              </a:lnSpc>
              <a:buNone/>
            </a:pPr>
            <a:r>
              <a:rPr lang="en-US" sz="1600" dirty="0">
                <a:solidFill>
                  <a:srgbClr val="AEB9CD"/>
                </a:solidFill>
                <a:latin typeface="Calibri" pitchFamily="34" charset="0"/>
                <a:ea typeface="Calibri" pitchFamily="34" charset="-122"/>
                <a:cs typeface="Calibri" pitchFamily="34" charset="-120"/>
              </a:rPr>
              <a:t>Vorhersage und Ground Truth nebeneinander, Fehler je Gelenk über die Zeit,</a:t>
            </a:r>
            <a:endParaRPr lang="en-US" sz="1600" dirty="0"/>
          </a:p>
          <a:p>
            <a:pPr marL="0" indent="0">
              <a:lnSpc>
                <a:spcPts val="2400"/>
              </a:lnSpc>
              <a:buNone/>
            </a:pPr>
            <a:r>
              <a:rPr lang="en-US" sz="1600" dirty="0">
                <a:solidFill>
                  <a:srgbClr val="AEB9CD"/>
                </a:solidFill>
                <a:latin typeface="Calibri" pitchFamily="34" charset="0"/>
                <a:ea typeface="Calibri" pitchFamily="34" charset="-122"/>
                <a:cs typeface="Calibri" pitchFamily="34" charset="-120"/>
              </a:rPr>
              <a:t>und der Vergleich aller trainierten Modelle.</a:t>
            </a:r>
            <a:endParaRPr lang="en-US" sz="1600" dirty="0"/>
          </a:p>
        </p:txBody>
      </p:sp>
      <p:sp>
        <p:nvSpPr>
          <p:cNvPr id="7" name="Shape 5"/>
          <p:cNvSpPr/>
          <p:nvPr/>
        </p:nvSpPr>
        <p:spPr>
          <a:xfrm>
            <a:off x="822960" y="4114800"/>
            <a:ext cx="2286000" cy="566928"/>
          </a:xfrm>
          <a:prstGeom prst="roundRect">
            <a:avLst>
              <a:gd name="adj" fmla="val 16129"/>
            </a:avLst>
          </a:prstGeom>
          <a:solidFill>
            <a:srgbClr val="16294A"/>
          </a:solidFill>
          <a:ln w="9525">
            <a:solidFill>
              <a:srgbClr val="2A4770"/>
            </a:solidFill>
            <a:prstDash val="solid"/>
          </a:ln>
        </p:spPr>
        <p:txBody>
          <a:bodyPr/>
          <a:lstStyle/>
          <a:p>
            <a:endParaRPr lang="en-DE"/>
          </a:p>
        </p:txBody>
      </p:sp>
      <p:sp>
        <p:nvSpPr>
          <p:cNvPr id="8" name="Text 6"/>
          <p:cNvSpPr/>
          <p:nvPr/>
        </p:nvSpPr>
        <p:spPr>
          <a:xfrm>
            <a:off x="822960" y="4114800"/>
            <a:ext cx="2286000" cy="566928"/>
          </a:xfrm>
          <a:prstGeom prst="rect">
            <a:avLst/>
          </a:prstGeom>
          <a:noFill/>
          <a:ln/>
        </p:spPr>
        <p:txBody>
          <a:bodyPr wrap="square" lIns="0" tIns="0" rIns="0" bIns="0" rtlCol="0" anchor="ctr"/>
          <a:lstStyle/>
          <a:p>
            <a:pPr marL="0" indent="0" algn="ctr">
              <a:buNone/>
            </a:pPr>
            <a:r>
              <a:rPr lang="en-US" sz="1300" dirty="0">
                <a:solidFill>
                  <a:srgbClr val="CFE0FB"/>
                </a:solidFill>
                <a:latin typeface="Calibri" pitchFamily="34" charset="0"/>
                <a:ea typeface="Calibri" pitchFamily="34" charset="-122"/>
                <a:cs typeface="Calibri" pitchFamily="34" charset="-120"/>
              </a:rPr>
              <a:t>Signals</a:t>
            </a:r>
            <a:endParaRPr lang="en-US" sz="1300" dirty="0"/>
          </a:p>
        </p:txBody>
      </p:sp>
      <p:sp>
        <p:nvSpPr>
          <p:cNvPr id="9" name="Shape 7"/>
          <p:cNvSpPr/>
          <p:nvPr/>
        </p:nvSpPr>
        <p:spPr>
          <a:xfrm>
            <a:off x="3337560" y="4114800"/>
            <a:ext cx="2286000" cy="566928"/>
          </a:xfrm>
          <a:prstGeom prst="roundRect">
            <a:avLst>
              <a:gd name="adj" fmla="val 16129"/>
            </a:avLst>
          </a:prstGeom>
          <a:solidFill>
            <a:srgbClr val="16294A"/>
          </a:solidFill>
          <a:ln w="9525">
            <a:solidFill>
              <a:srgbClr val="2A4770"/>
            </a:solidFill>
            <a:prstDash val="solid"/>
          </a:ln>
        </p:spPr>
        <p:txBody>
          <a:bodyPr/>
          <a:lstStyle/>
          <a:p>
            <a:endParaRPr lang="en-DE"/>
          </a:p>
        </p:txBody>
      </p:sp>
      <p:sp>
        <p:nvSpPr>
          <p:cNvPr id="10" name="Text 8"/>
          <p:cNvSpPr/>
          <p:nvPr/>
        </p:nvSpPr>
        <p:spPr>
          <a:xfrm>
            <a:off x="3337560" y="4114800"/>
            <a:ext cx="2286000" cy="566928"/>
          </a:xfrm>
          <a:prstGeom prst="rect">
            <a:avLst/>
          </a:prstGeom>
          <a:noFill/>
          <a:ln/>
        </p:spPr>
        <p:txBody>
          <a:bodyPr wrap="square" lIns="0" tIns="0" rIns="0" bIns="0" rtlCol="0" anchor="ctr"/>
          <a:lstStyle/>
          <a:p>
            <a:pPr marL="0" indent="0" algn="ctr">
              <a:buNone/>
            </a:pPr>
            <a:r>
              <a:rPr lang="en-US" sz="1300" dirty="0">
                <a:solidFill>
                  <a:srgbClr val="CFE0FB"/>
                </a:solidFill>
                <a:latin typeface="Calibri" pitchFamily="34" charset="0"/>
                <a:ea typeface="Calibri" pitchFamily="34" charset="-122"/>
                <a:cs typeface="Calibri" pitchFamily="34" charset="-120"/>
              </a:rPr>
              <a:t>Prediction &amp; Video</a:t>
            </a:r>
            <a:endParaRPr lang="en-US" sz="1300" dirty="0"/>
          </a:p>
        </p:txBody>
      </p:sp>
      <p:sp>
        <p:nvSpPr>
          <p:cNvPr id="11" name="Shape 9"/>
          <p:cNvSpPr/>
          <p:nvPr/>
        </p:nvSpPr>
        <p:spPr>
          <a:xfrm>
            <a:off x="5852160" y="4114800"/>
            <a:ext cx="2286000" cy="566928"/>
          </a:xfrm>
          <a:prstGeom prst="roundRect">
            <a:avLst>
              <a:gd name="adj" fmla="val 16129"/>
            </a:avLst>
          </a:prstGeom>
          <a:solidFill>
            <a:srgbClr val="16294A"/>
          </a:solidFill>
          <a:ln w="9525">
            <a:solidFill>
              <a:srgbClr val="2A4770"/>
            </a:solidFill>
            <a:prstDash val="solid"/>
          </a:ln>
        </p:spPr>
        <p:txBody>
          <a:bodyPr/>
          <a:lstStyle/>
          <a:p>
            <a:endParaRPr lang="en-DE"/>
          </a:p>
        </p:txBody>
      </p:sp>
      <p:sp>
        <p:nvSpPr>
          <p:cNvPr id="12" name="Text 10"/>
          <p:cNvSpPr/>
          <p:nvPr/>
        </p:nvSpPr>
        <p:spPr>
          <a:xfrm>
            <a:off x="5852160" y="4114800"/>
            <a:ext cx="2286000" cy="566928"/>
          </a:xfrm>
          <a:prstGeom prst="rect">
            <a:avLst/>
          </a:prstGeom>
          <a:noFill/>
          <a:ln/>
        </p:spPr>
        <p:txBody>
          <a:bodyPr wrap="square" lIns="0" tIns="0" rIns="0" bIns="0" rtlCol="0" anchor="ctr"/>
          <a:lstStyle/>
          <a:p>
            <a:pPr marL="0" indent="0" algn="ctr">
              <a:buNone/>
            </a:pPr>
            <a:r>
              <a:rPr lang="en-US" sz="1300" dirty="0">
                <a:solidFill>
                  <a:srgbClr val="CFE0FB"/>
                </a:solidFill>
                <a:latin typeface="Calibri" pitchFamily="34" charset="0"/>
                <a:ea typeface="Calibri" pitchFamily="34" charset="-122"/>
                <a:cs typeface="Calibri" pitchFamily="34" charset="-120"/>
              </a:rPr>
              <a:t>Evaluation</a:t>
            </a:r>
            <a:endParaRPr lang="en-US" sz="1300" dirty="0"/>
          </a:p>
        </p:txBody>
      </p:sp>
      <p:sp>
        <p:nvSpPr>
          <p:cNvPr id="13" name="Text 11"/>
          <p:cNvSpPr/>
          <p:nvPr/>
        </p:nvSpPr>
        <p:spPr>
          <a:xfrm>
            <a:off x="822960" y="5074920"/>
            <a:ext cx="8686800" cy="320040"/>
          </a:xfrm>
          <a:prstGeom prst="rect">
            <a:avLst/>
          </a:prstGeom>
          <a:noFill/>
          <a:ln/>
        </p:spPr>
        <p:txBody>
          <a:bodyPr wrap="square" lIns="0" tIns="0" rIns="0" bIns="0" rtlCol="0" anchor="ctr"/>
          <a:lstStyle/>
          <a:p>
            <a:pPr marL="0" indent="0">
              <a:buNone/>
            </a:pPr>
            <a:r>
              <a:rPr lang="en-US" sz="1200" dirty="0">
                <a:solidFill>
                  <a:srgbClr val="7D8AA2"/>
                </a:solidFill>
                <a:latin typeface="Calibri" pitchFamily="34" charset="0"/>
                <a:ea typeface="Calibri" pitchFamily="34" charset="-122"/>
                <a:cs typeface="Calibri" pitchFamily="34" charset="-120"/>
              </a:rPr>
              <a:t>Movement Analysis Suite  ·  läuft lokal, keine Daten verlassen den Rechner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1868</Words>
  <Application>Microsoft Office PowerPoint</Application>
  <PresentationFormat>Widescreen</PresentationFormat>
  <Paragraphs>221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3D-Pose aus vier IMUs</dc:title>
  <dc:subject>PptxGenJS Presentation</dc:subject>
  <dc:creator>Technical Project</dc:creator>
  <cp:lastModifiedBy>Dalia S.</cp:lastModifiedBy>
  <cp:revision>2</cp:revision>
  <dcterms:created xsi:type="dcterms:W3CDTF">2026-08-09T09:55:29Z</dcterms:created>
  <dcterms:modified xsi:type="dcterms:W3CDTF">2026-08-09T10:04:31Z</dcterms:modified>
</cp:coreProperties>
</file>